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2" r:id="rId54"/>
    <p:sldId id="283" r:id="rId55"/>
    <p:sldId id="284" r:id="rId56"/>
    <p:sldId id="285" r:id="rId57"/>
    <p:sldId id="286" r:id="rId58"/>
    <p:sldId id="287" r:id="rId59"/>
    <p:sldId id="280" r:id="rId30"/>
    <p:sldId id="281" r:id="rId31"/>
  </p:sldIdLst>
  <p:sldSz cy="6858000" cx="12192000"/>
  <p:notesSz cx="6858000" cy="9144000"/>
  <p:embeddedFontLst>
    <p:embeddedFont>
      <p:font typeface="Inter SemiBold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Poppins"/>
      <p:regular r:id="rId40"/>
      <p:bold r:id="rId41"/>
      <p:italic r:id="rId42"/>
      <p:boldItalic r:id="rId43"/>
    </p:embeddedFont>
    <p:embeddedFont>
      <p:font typeface="Inter"/>
      <p:regular r:id="rId44"/>
      <p:bold r:id="rId45"/>
      <p:italic r:id="rId46"/>
      <p:boldItalic r:id="rId47"/>
    </p:embeddedFont>
    <p:embeddedFont>
      <p:font typeface="Poppins SemiBold"/>
      <p:regular r:id="rId48"/>
      <p:bold r:id="rId49"/>
      <p:italic r:id="rId50"/>
      <p:boldItalic r:id="rId51"/>
    </p:embeddedFont>
    <p:embeddedFont>
      <p:font typeface="Poppins ExtraBold"/>
      <p:bold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font" Target="fonts/InterSemiBold-regular.fntdata"/><Relationship Id="rId33" Type="http://schemas.openxmlformats.org/officeDocument/2006/relationships/font" Target="fonts/InterSemiBold-bold.fntdata"/><Relationship Id="rId34" Type="http://schemas.openxmlformats.org/officeDocument/2006/relationships/font" Target="fonts/InterSemiBold-italic.fntdata"/><Relationship Id="rId35" Type="http://schemas.openxmlformats.org/officeDocument/2006/relationships/font" Target="fonts/InterSemiBold-boldItalic.fntdata"/><Relationship Id="rId36" Type="http://schemas.openxmlformats.org/officeDocument/2006/relationships/font" Target="fonts/Lato-regular.fntdata"/><Relationship Id="rId37" Type="http://schemas.openxmlformats.org/officeDocument/2006/relationships/font" Target="fonts/Lato-bold.fntdata"/><Relationship Id="rId38" Type="http://schemas.openxmlformats.org/officeDocument/2006/relationships/font" Target="fonts/Lato-italic.fntdata"/><Relationship Id="rId39" Type="http://schemas.openxmlformats.org/officeDocument/2006/relationships/font" Target="fonts/Lato-boldItalic.fntdata"/><Relationship Id="rId40" Type="http://schemas.openxmlformats.org/officeDocument/2006/relationships/font" Target="fonts/Poppins-regular.fntdata"/><Relationship Id="rId41" Type="http://schemas.openxmlformats.org/officeDocument/2006/relationships/font" Target="fonts/Poppins-bold.fntdata"/><Relationship Id="rId42" Type="http://schemas.openxmlformats.org/officeDocument/2006/relationships/font" Target="fonts/Poppins-italic.fntdata"/><Relationship Id="rId43" Type="http://schemas.openxmlformats.org/officeDocument/2006/relationships/font" Target="fonts/Poppins-boldItalic.fntdata"/><Relationship Id="rId44" Type="http://schemas.openxmlformats.org/officeDocument/2006/relationships/font" Target="fonts/Inter-regular.fntdata"/><Relationship Id="rId45" Type="http://schemas.openxmlformats.org/officeDocument/2006/relationships/font" Target="fonts/Inter-bold.fntdata"/><Relationship Id="rId46" Type="http://schemas.openxmlformats.org/officeDocument/2006/relationships/font" Target="fonts/Inter-italic.fntdata"/><Relationship Id="rId47" Type="http://schemas.openxmlformats.org/officeDocument/2006/relationships/font" Target="fonts/Inter-boldItalic.fntdata"/><Relationship Id="rId48" Type="http://schemas.openxmlformats.org/officeDocument/2006/relationships/font" Target="fonts/PoppinsSemiBold-regular.fntdata"/><Relationship Id="rId49" Type="http://schemas.openxmlformats.org/officeDocument/2006/relationships/font" Target="fonts/PoppinsSemiBold-bold.fntdata"/><Relationship Id="rId50" Type="http://schemas.openxmlformats.org/officeDocument/2006/relationships/font" Target="fonts/PoppinsSemiBold-italic.fntdata"/><Relationship Id="rId51" Type="http://schemas.openxmlformats.org/officeDocument/2006/relationships/font" Target="fonts/PoppinsSemiBold-boldItalic.fntdata"/><Relationship Id="rId52" Type="http://schemas.openxmlformats.org/officeDocument/2006/relationships/font" Target="fonts/PoppinsExtraBold-bold.fntdata"/><Relationship Id="rId53" Type="http://schemas.openxmlformats.org/officeDocument/2006/relationships/font" Target="fonts/PoppinsExtraBold-boldItalic.fntdata"/><Relationship Id="rId54" Type="http://schemas.openxmlformats.org/officeDocument/2006/relationships/slide" Target="slides/slide27.xml"/><Relationship Id="rId55" Type="http://schemas.openxmlformats.org/officeDocument/2006/relationships/slide" Target="slides/slide28.xml"/><Relationship Id="rId56" Type="http://schemas.openxmlformats.org/officeDocument/2006/relationships/slide" Target="slides/slide29.xml"/><Relationship Id="rId57" Type="http://schemas.openxmlformats.org/officeDocument/2006/relationships/slide" Target="slides/slide30.xml"/><Relationship Id="rId58" Type="http://schemas.openxmlformats.org/officeDocument/2006/relationships/slide" Target="slides/slide31.xml"/><Relationship Id="rId5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b9be1caf6_1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8b9be1caf6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b9be1caf6_1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b9be1caf6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b9be1caf6_8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8b9be1caf6_8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b44ac408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b44ac40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b44ac408a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b44ac40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b44ac408a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b44ac408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b9be1caf6_8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8b9be1caf6_8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b9be1caf6_8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8b9be1caf6_8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b9be1caf6_8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8b9be1caf6_8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b9be1caf6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b9be1caf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8b9be1caf6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8b9be1caf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b9be1caf6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8b9be1caf6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b9be1caf6_1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8b9be1caf6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8b9be1caf6_1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8b9be1caf6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b9be1caf6_1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8b9be1caf6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8b9be1caf6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8b9be1caf6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8b9be1caf6_1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8b9be1caf6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8b9be1caf6_1_2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8b9be1caf6_1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three axes are employment/HR title (company_role), login role (role), and job tier (team_role). Members of the audience only ever need the tier. If someone asks why they 'have three roles', this slide is the answer: the system is precise, the screen is deliberately simple.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layout is chosen by the role's uses_field_layout flag, which is editable in Access Roles — it is a layout decision, not access control. Every item in each layout is still permission-filtered separately.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 and Tech Admin hold every permission. Office Admin is the deliberate split: it runs people and projects but cannot touch custody.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tier ladder. Authority is per job: a superintendent with power on Job A has none on Job B. Nobody can place a Director — a Director joins a job by claiming it.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Field roles get the three-item layout. Foreman and Mechanic cannot move custody by any route — UI, chat or a direct API call.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the operations that cover nearly all day-to-day use. Assign, hand over and move-person all write ledger events; crew onboarding writes the roster that decides who can see what.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13.png"/><Relationship Id="rId8" Type="http://schemas.openxmlformats.org/officeDocument/2006/relationships/image" Target="../media/image18.png"/><Relationship Id="rId9" Type="http://schemas.openxmlformats.org/officeDocument/2006/relationships/image" Target="../media/image2.png"/><Relationship Id="rId10" Type="http://schemas.openxmlformats.org/officeDocument/2006/relationships/image" Target="../media/image4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3.png"/><Relationship Id="rId14" Type="http://schemas.openxmlformats.org/officeDocument/2006/relationships/image" Target="../media/image10.png"/><Relationship Id="rId15" Type="http://schemas.openxmlformats.org/officeDocument/2006/relationships/image" Target="../media/image22.png"/><Relationship Id="rId16" Type="http://schemas.openxmlformats.org/officeDocument/2006/relationships/image" Target="../media/image16.png"/><Relationship Id="rId17" Type="http://schemas.openxmlformats.org/officeDocument/2006/relationships/image" Target="../media/image27.png"/><Relationship Id="rId18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8.png"/><Relationship Id="rId7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3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Relationship Id="rId4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4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4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4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31.png"/><Relationship Id="rId7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png"/><Relationship Id="rId4" Type="http://schemas.openxmlformats.org/officeDocument/2006/relationships/image" Target="../media/image21.png"/><Relationship Id="rId5" Type="http://schemas.openxmlformats.org/officeDocument/2006/relationships/image" Target="../media/image34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Relationship Id="rId9" Type="http://schemas.openxmlformats.org/officeDocument/2006/relationships/image" Target="../media/image5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38.png"/><Relationship Id="rId5" Type="http://schemas.openxmlformats.org/officeDocument/2006/relationships/image" Target="../media/image45.png"/><Relationship Id="rId6" Type="http://schemas.openxmlformats.org/officeDocument/2006/relationships/image" Target="../media/image44.png"/><Relationship Id="rId7" Type="http://schemas.openxmlformats.org/officeDocument/2006/relationships/image" Target="../media/image36.png"/><Relationship Id="rId8" Type="http://schemas.openxmlformats.org/officeDocument/2006/relationships/image" Target="../media/image35.png"/><Relationship Id="rId9" Type="http://schemas.openxmlformats.org/officeDocument/2006/relationships/image" Target="../media/image5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48.png"/><Relationship Id="rId5" Type="http://schemas.openxmlformats.org/officeDocument/2006/relationships/image" Target="../media/image59.png"/><Relationship Id="rId6" Type="http://schemas.openxmlformats.org/officeDocument/2006/relationships/image" Target="../media/image58.png"/><Relationship Id="rId7" Type="http://schemas.openxmlformats.org/officeDocument/2006/relationships/image" Target="../media/image50.png"/><Relationship Id="rId8" Type="http://schemas.openxmlformats.org/officeDocument/2006/relationships/image" Target="../media/image61.png"/><Relationship Id="rId9" Type="http://schemas.openxmlformats.org/officeDocument/2006/relationships/image" Target="../media/image55.png"/><Relationship Id="rId10" Type="http://schemas.openxmlformats.org/officeDocument/2006/relationships/image" Target="../media/image60.png"/><Relationship Id="rId11" Type="http://schemas.openxmlformats.org/officeDocument/2006/relationships/image" Target="../media/image57.png"/><Relationship Id="rId12" Type="http://schemas.openxmlformats.org/officeDocument/2006/relationships/image" Target="../media/image65.png"/><Relationship Id="rId13" Type="http://schemas.openxmlformats.org/officeDocument/2006/relationships/image" Target="../media/image5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69.png"/><Relationship Id="rId5" Type="http://schemas.openxmlformats.org/officeDocument/2006/relationships/image" Target="../media/image62.png"/><Relationship Id="rId6" Type="http://schemas.openxmlformats.org/officeDocument/2006/relationships/image" Target="../media/image64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72.png"/><Relationship Id="rId5" Type="http://schemas.openxmlformats.org/officeDocument/2006/relationships/image" Target="../media/image83.png"/><Relationship Id="rId6" Type="http://schemas.openxmlformats.org/officeDocument/2006/relationships/image" Target="../media/image70.png"/><Relationship Id="rId7" Type="http://schemas.openxmlformats.org/officeDocument/2006/relationships/image" Target="../media/image80.png"/><Relationship Id="rId8" Type="http://schemas.openxmlformats.org/officeDocument/2006/relationships/image" Target="../media/image6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73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71.png"/><Relationship Id="rId8" Type="http://schemas.openxmlformats.org/officeDocument/2006/relationships/image" Target="../media/image86.png"/><Relationship Id="rId9" Type="http://schemas.openxmlformats.org/officeDocument/2006/relationships/image" Target="../media/image81.png"/><Relationship Id="rId10" Type="http://schemas.openxmlformats.org/officeDocument/2006/relationships/image" Target="../media/image77.png"/><Relationship Id="rId11" Type="http://schemas.openxmlformats.org/officeDocument/2006/relationships/image" Target="../media/image87.png"/><Relationship Id="rId12" Type="http://schemas.openxmlformats.org/officeDocument/2006/relationships/image" Target="../media/image74.png"/><Relationship Id="rId13" Type="http://schemas.openxmlformats.org/officeDocument/2006/relationships/image" Target="../media/image8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Relationship Id="rId4" Type="http://schemas.openxmlformats.org/officeDocument/2006/relationships/image" Target="../media/image89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96.png"/><Relationship Id="rId8" Type="http://schemas.openxmlformats.org/officeDocument/2006/relationships/image" Target="../media/image9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8.png"/><Relationship Id="rId7" Type="http://schemas.openxmlformats.org/officeDocument/2006/relationships/image" Target="../media/image94.png"/><Relationship Id="rId8" Type="http://schemas.openxmlformats.org/officeDocument/2006/relationships/image" Target="../media/image99.png"/><Relationship Id="rId9" Type="http://schemas.openxmlformats.org/officeDocument/2006/relationships/image" Target="../media/image95.png"/><Relationship Id="rId10" Type="http://schemas.openxmlformats.org/officeDocument/2006/relationships/image" Target="../media/image8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100.png"/><Relationship Id="rId5" Type="http://schemas.openxmlformats.org/officeDocument/2006/relationships/image" Target="../media/image97.png"/><Relationship Id="rId6" Type="http://schemas.openxmlformats.org/officeDocument/2006/relationships/image" Target="../media/image93.png"/><Relationship Id="rId7" Type="http://schemas.openxmlformats.org/officeDocument/2006/relationships/image" Target="../media/image8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89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96.png"/><Relationship Id="rId7" Type="http://schemas.openxmlformats.org/officeDocument/2006/relationships/image" Target="../media/image90.png"/><Relationship Id="rId8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7.png"/><Relationship Id="rId3" Type="http://schemas.openxmlformats.org/officeDocument/2006/relationships/image" Target="../media/image77.png"/><Relationship Id="rId4" Type="http://schemas.openxmlformats.org/officeDocument/2006/relationships/image" Target="../media/image84.png"/><Relationship Id="rId5" Type="http://schemas.openxmlformats.org/officeDocument/2006/relationships/image" Target="../media/image74.png"/><Relationship Id="rId6" Type="http://schemas.openxmlformats.org/officeDocument/2006/relationships/image" Target="../media/image23.png"/><Relationship Id="rId7" Type="http://schemas.openxmlformats.org/officeDocument/2006/relationships/image" Target="../media/image73.png"/><Relationship Id="rId8" Type="http://schemas.openxmlformats.org/officeDocument/2006/relationships/image" Target="../media/image81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71.png"/><Relationship Id="rId12" Type="http://schemas.openxmlformats.org/officeDocument/2006/relationships/image" Target="../media/image86.png"/><Relationship Id="rId1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7.png"/><Relationship Id="rId3" Type="http://schemas.openxmlformats.org/officeDocument/2006/relationships/image" Target="../media/image77.png"/><Relationship Id="rId4" Type="http://schemas.openxmlformats.org/officeDocument/2006/relationships/image" Target="../media/image84.png"/><Relationship Id="rId5" Type="http://schemas.openxmlformats.org/officeDocument/2006/relationships/image" Target="../media/image74.png"/><Relationship Id="rId6" Type="http://schemas.openxmlformats.org/officeDocument/2006/relationships/image" Target="../media/image23.png"/><Relationship Id="rId7" Type="http://schemas.openxmlformats.org/officeDocument/2006/relationships/image" Target="../media/image73.png"/><Relationship Id="rId8" Type="http://schemas.openxmlformats.org/officeDocument/2006/relationships/image" Target="../media/image81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71.png"/><Relationship Id="rId12" Type="http://schemas.openxmlformats.org/officeDocument/2006/relationships/image" Target="../media/image86.png"/><Relationship Id="rId1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7.png"/><Relationship Id="rId3" Type="http://schemas.openxmlformats.org/officeDocument/2006/relationships/image" Target="../media/image77.png"/><Relationship Id="rId4" Type="http://schemas.openxmlformats.org/officeDocument/2006/relationships/image" Target="../media/image84.png"/><Relationship Id="rId5" Type="http://schemas.openxmlformats.org/officeDocument/2006/relationships/image" Target="../media/image74.png"/><Relationship Id="rId6" Type="http://schemas.openxmlformats.org/officeDocument/2006/relationships/image" Target="../media/image23.png"/><Relationship Id="rId7" Type="http://schemas.openxmlformats.org/officeDocument/2006/relationships/image" Target="../media/image73.png"/><Relationship Id="rId8" Type="http://schemas.openxmlformats.org/officeDocument/2006/relationships/image" Target="../media/image81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71.png"/><Relationship Id="rId12" Type="http://schemas.openxmlformats.org/officeDocument/2006/relationships/image" Target="../media/image86.png"/><Relationship Id="rId1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.png"/><Relationship Id="rId3" Type="http://schemas.openxmlformats.org/officeDocument/2006/relationships/image" Target="../media/image60.png"/><Relationship Id="rId4" Type="http://schemas.openxmlformats.org/officeDocument/2006/relationships/image" Target="../media/image56.png"/><Relationship Id="rId5" Type="http://schemas.openxmlformats.org/officeDocument/2006/relationships/image" Target="../media/image65.png"/><Relationship Id="rId6" Type="http://schemas.openxmlformats.org/officeDocument/2006/relationships/image" Target="../media/image23.png"/><Relationship Id="rId7" Type="http://schemas.openxmlformats.org/officeDocument/2006/relationships/image" Target="../media/image48.png"/><Relationship Id="rId8" Type="http://schemas.openxmlformats.org/officeDocument/2006/relationships/image" Target="../media/image55.png"/><Relationship Id="rId9" Type="http://schemas.openxmlformats.org/officeDocument/2006/relationships/image" Target="../media/image59.png"/><Relationship Id="rId10" Type="http://schemas.openxmlformats.org/officeDocument/2006/relationships/image" Target="../media/image58.png"/><Relationship Id="rId11" Type="http://schemas.openxmlformats.org/officeDocument/2006/relationships/image" Target="../media/image50.png"/><Relationship Id="rId12" Type="http://schemas.openxmlformats.org/officeDocument/2006/relationships/image" Target="../media/image61.png"/><Relationship Id="rId1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" y="4708177"/>
            <a:ext cx="111442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23875" y="1583085"/>
            <a:ext cx="1114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Awakening What's Possible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23875" y="1978372"/>
            <a:ext cx="11668125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Optix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23875" y="2822227"/>
            <a:ext cx="11144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Small Tools Inventory Management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23875" y="3508027"/>
            <a:ext cx="6667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Built for Urban Infraconstruction LLC: one trustworthy answer to where every small tool is, and who is holding it.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" y="1187797"/>
            <a:ext cx="1143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523875" y="4955827"/>
            <a:ext cx="19335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PREPARED FOR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23875" y="5165377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Urban Infraconstruction LLC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838450" y="4955827"/>
            <a:ext cx="9239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PRESENTED BY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838450" y="5165377"/>
            <a:ext cx="923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Bodhi Labs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4143375" y="4955827"/>
            <a:ext cx="11334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DATE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4143375" y="5165377"/>
            <a:ext cx="1133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September 2026</a:t>
            </a:r>
            <a:endParaRPr/>
          </a:p>
        </p:txBody>
      </p:sp>
      <p:pic>
        <p:nvPicPr>
          <p:cNvPr id="97" name="Google Shape;97;p13" title="Screenshot 2026-09-11 16304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40720" y="1089825"/>
            <a:ext cx="3593575" cy="17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60115"/>
            <a:ext cx="3530649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749" y="1160115"/>
            <a:ext cx="3530649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999" y="1160115"/>
            <a:ext cx="3530649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46140"/>
            <a:ext cx="3530649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749" y="3646140"/>
            <a:ext cx="3530649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9999" y="3646140"/>
            <a:ext cx="3530649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14268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809625" y="2112615"/>
            <a:ext cx="320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1. Mission &amp; Goals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09625" y="2417415"/>
            <a:ext cx="30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Why Optix exists, and the outcomes it has to prove on Urban's jobs.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68874" y="14268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4568874" y="2112615"/>
            <a:ext cx="320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2. How Optix Works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568874" y="2417415"/>
            <a:ext cx="30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One ledger, one writer: how a tool moves and how its location is calculated.</a:t>
            </a:r>
            <a:endParaRPr/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28124" y="14268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8328124" y="2112615"/>
            <a:ext cx="320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3. Field &amp; Desk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328124" y="2417415"/>
            <a:ext cx="30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Two layouts — a foreman's phone, and the equipment desk's full working surface.</a:t>
            </a:r>
            <a:endParaRPr/>
          </a:p>
        </p:txBody>
      </p:sp>
      <p:pic>
        <p:nvPicPr>
          <p:cNvPr descr="image.png" id="119" name="Google Shape;119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391284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809625" y="4598640"/>
            <a:ext cx="320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 Screens &amp; Features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09625" y="4903440"/>
            <a:ext cx="305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Register, custody, tools by jobsite, reports and the audit trail.</a:t>
            </a:r>
            <a:endParaRPr/>
          </a:p>
        </p:txBody>
      </p:sp>
      <p:pic>
        <p:nvPicPr>
          <p:cNvPr descr="image.png" id="122" name="Google Shape;12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68874" y="391284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/>
          <p:cNvSpPr txBox="1"/>
          <p:nvPr/>
        </p:nvSpPr>
        <p:spPr>
          <a:xfrm>
            <a:off x="4568874" y="4598640"/>
            <a:ext cx="320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5. Roles &amp; Screens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4568874" y="4903440"/>
            <a:ext cx="30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Each role mapped to the screens it gets, and what it may do.</a:t>
            </a:r>
            <a:endParaRPr/>
          </a:p>
        </p:txBody>
      </p:sp>
      <p:pic>
        <p:nvPicPr>
          <p:cNvPr descr="image.png" id="125" name="Google Shape;125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28124" y="391284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/>
          <p:nvPr/>
        </p:nvSpPr>
        <p:spPr>
          <a:xfrm>
            <a:off x="8328124" y="4598640"/>
            <a:ext cx="320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6. Doing the Work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8328124" y="4903440"/>
            <a:ext cx="305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Assign a tool, hand over a container, staff a job, onboard a crew.</a:t>
            </a:r>
            <a:endParaRPr/>
          </a:p>
        </p:txBody>
      </p:sp>
      <p:pic>
        <p:nvPicPr>
          <p:cNvPr descr="image.png" id="128" name="Google Shape;128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3925" y="154111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702224" y="154111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442424" y="154111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85825" y="402714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645074" y="402714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404324" y="402714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AGENDA — FROM MISSION TO DAILY WORK</a:t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31615"/>
            <a:ext cx="533400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31615"/>
            <a:ext cx="533400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571500" y="1160115"/>
            <a:ext cx="761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Turning tool custody from a memory game into a live system Urban can trust.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76300" y="2007840"/>
            <a:ext cx="49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The Problem Today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6591300" y="2007840"/>
            <a:ext cx="49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Our Mission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591300" y="2379315"/>
            <a:ext cx="475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Know where every small tool is, and who is holding it — at all times, without a phone call to the yard.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591300" y="2950815"/>
            <a:ext cx="475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One register of record · live custody · field-first by phone · tools follow the foreman · access that matches the job.</a:t>
            </a:r>
            <a:endParaRPr/>
          </a:p>
        </p:txBody>
      </p:sp>
      <p:pic>
        <p:nvPicPr>
          <p:cNvPr descr="image.png" id="149" name="Google Shape;14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02689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 txBox="1"/>
          <p:nvPr/>
        </p:nvSpPr>
        <p:spPr>
          <a:xfrm>
            <a:off x="981075" y="2379315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1066800" y="2379315"/>
            <a:ext cx="45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Capital Waste: tools that cannot be located get re-purchased, driving up unnecessary capex.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981075" y="2950815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1066800" y="2950815"/>
            <a:ext cx="45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Idle Downtime: crews hunting for equipment burn labour budgets at site rates.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981075" y="3522315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1066800" y="3522315"/>
            <a:ext cx="45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Offboarding Gaps: departing workers leave without a systematic check on held inventory.</a:t>
            </a:r>
            <a:endParaRPr/>
          </a:p>
        </p:txBody>
      </p:sp>
      <p:pic>
        <p:nvPicPr>
          <p:cNvPr descr="image.png" id="156" name="Google Shape;15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91300" y="202689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5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MISSION &amp; GOALS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6400800"/>
            <a:ext cx="111442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523875" y="6524625"/>
            <a:ext cx="19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Bodhi Labs · Optix Small Tools Inventory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0706100" y="6524625"/>
            <a:ext cx="96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Getting Started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523875" y="428625"/>
            <a:ext cx="11668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Onboarding</a:t>
            </a:r>
            <a:endParaRPr/>
          </a:p>
        </p:txBody>
      </p:sp>
      <p:pic>
        <p:nvPicPr>
          <p:cNvPr id="167" name="Google Shape;16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73425"/>
            <a:ext cx="7389998" cy="5274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7330" y="309025"/>
            <a:ext cx="6711737" cy="685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/>
          <p:cNvPicPr preferRelativeResize="0"/>
          <p:nvPr/>
        </p:nvPicPr>
        <p:blipFill rotWithShape="1">
          <a:blip r:embed="rId4">
            <a:alphaModFix/>
          </a:blip>
          <a:srcRect b="-10800" l="0" r="0" t="10800"/>
          <a:stretch/>
        </p:blipFill>
        <p:spPr>
          <a:xfrm>
            <a:off x="0" y="394325"/>
            <a:ext cx="5737326" cy="572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8852623" cy="4923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075" y="0"/>
            <a:ext cx="11723858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6400800"/>
            <a:ext cx="111442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23875" y="6524625"/>
            <a:ext cx="19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Bodhi Labs · Optix Small Tools Inventory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10706100" y="6524625"/>
            <a:ext cx="96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Getting Started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23875" y="428625"/>
            <a:ext cx="11668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Optix is laid out</a:t>
            </a:r>
            <a:endParaRPr/>
          </a:p>
        </p:txBody>
      </p:sp>
      <p:pic>
        <p:nvPicPr>
          <p:cNvPr id="192" name="Google Shape;19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6350" y="973425"/>
            <a:ext cx="10047974" cy="516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6400800"/>
            <a:ext cx="111442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523875" y="6524625"/>
            <a:ext cx="19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Bodhi Labs · Optix Small Tools Inventory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10706100" y="6524625"/>
            <a:ext cx="96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Getting Started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340375" y="440100"/>
            <a:ext cx="11668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Optix is laid out</a:t>
            </a:r>
            <a:endParaRPr/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1136" y="1367888"/>
            <a:ext cx="6707340" cy="412222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340375" y="1504900"/>
            <a:ext cx="4756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See one job, all jobs, or a group you create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340375" y="2836363"/>
            <a:ext cx="37131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You can be assigned to several jobs. Every screen can be read for a single job, for all of them, or for a group you save.</a:t>
            </a:r>
            <a:endParaRPr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6400800"/>
            <a:ext cx="111442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523875" y="6524625"/>
            <a:ext cx="19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Bodhi Labs · Optix Small Tools Inventory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10706100" y="6524625"/>
            <a:ext cx="962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Getting Started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340375" y="440100"/>
            <a:ext cx="11668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Optix is laid out</a:t>
            </a:r>
            <a:endParaRPr/>
          </a:p>
        </p:txBody>
      </p:sp>
      <p:pic>
        <p:nvPicPr>
          <p:cNvPr id="212" name="Google Shape;21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3625" y="945025"/>
            <a:ext cx="9236516" cy="5303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 title="Screenshot 2026-09-11 165819.png"/>
          <p:cNvPicPr preferRelativeResize="0"/>
          <p:nvPr/>
        </p:nvPicPr>
        <p:blipFill rotWithShape="1">
          <a:blip r:embed="rId3">
            <a:alphaModFix/>
          </a:blip>
          <a:srcRect b="0" l="9383" r="9383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571500" y="533400"/>
            <a:ext cx="5550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VISION: ONE TOOL. ONE TRUTH.</a:t>
            </a:r>
            <a:endParaRPr/>
          </a:p>
        </p:txBody>
      </p:sp>
      <p:pic>
        <p:nvPicPr>
          <p:cNvPr descr="image.png" id="225" name="Google Shape;2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5715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4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571500" y="1160115"/>
            <a:ext cx="555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Connected Field Intelligence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571500" y="1464915"/>
            <a:ext cx="5286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Optix connects yard equipment desks, field managers, and site crews through a single unified digital network.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914400" y="2104876"/>
            <a:ext cx="49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Centralized Identity: every tool carries a unique ID linked to its specs and its current holder.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914400" y="2733526"/>
            <a:ext cx="49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Live Custody Chain: every hand-off is recorded as it happens — the register is folded from that chain.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914400" y="3362176"/>
            <a:ext cx="49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One System of Record: the ledger is the truth; every screen is a projection of it.</a:t>
            </a:r>
            <a:endParaRPr/>
          </a:p>
        </p:txBody>
      </p:sp>
      <p:pic>
        <p:nvPicPr>
          <p:cNvPr descr="image.png" id="232" name="Google Shape;23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1916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4781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76463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" y="6400800"/>
            <a:ext cx="111442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/>
        </p:nvSpPr>
        <p:spPr>
          <a:xfrm>
            <a:off x="523875" y="6524625"/>
            <a:ext cx="19907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Bodhi Labs · Optix Small Tools Inventory</a:t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11020425" y="6524625"/>
            <a:ext cx="647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Tool Register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523875" y="2009775"/>
            <a:ext cx="454056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Centralized Asset Identity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523875" y="2438400"/>
            <a:ext cx="4324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Every small tool Urban owns, in one register, with make, model, serial and current holder.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809625" y="3133725"/>
            <a:ext cx="403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Tag &amp; reference: a searchable code per tool — optional until somebody labels it.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809625" y="3743325"/>
            <a:ext cx="403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Categories that match the yard: Hand Tools, Saws, Drills, Grinders, Compaction, Power &amp; Yard, Survey.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809625" y="4352925"/>
            <a:ext cx="403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Current holder: who is holding it right now, read from custody, not typed in.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809625" y="4962525"/>
            <a:ext cx="403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Global search: filter by make, serial, tag, category or jobsite.</a:t>
            </a:r>
            <a:endParaRPr/>
          </a:p>
        </p:txBody>
      </p:sp>
      <p:pic>
        <p:nvPicPr>
          <p:cNvPr descr="image.png" id="249" name="Google Shape;24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" y="31575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875" y="37671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3875" y="4376737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3875" y="498633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523875" y="428625"/>
            <a:ext cx="116681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Small Tools Register</a:t>
            </a:r>
            <a:endParaRPr/>
          </a:p>
        </p:txBody>
      </p:sp>
      <p:pic>
        <p:nvPicPr>
          <p:cNvPr id="254" name="Google Shape;254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1103" y="1069437"/>
            <a:ext cx="7200896" cy="4209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6" title="Screenshot 2026-09-11 1655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8" cy="616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16011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7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7"/>
          <p:cNvSpPr txBox="1"/>
          <p:nvPr/>
        </p:nvSpPr>
        <p:spPr>
          <a:xfrm>
            <a:off x="571500" y="1160115"/>
            <a:ext cx="56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Calculated from Unbroken Hand-Offs</a:t>
            </a:r>
            <a:endParaRPr/>
          </a:p>
        </p:txBody>
      </p:sp>
      <p:sp>
        <p:nvSpPr>
          <p:cNvPr id="268" name="Google Shape;268;p27"/>
          <p:cNvSpPr txBox="1"/>
          <p:nvPr/>
        </p:nvSpPr>
        <p:spPr>
          <a:xfrm>
            <a:off x="571500" y="1464915"/>
            <a:ext cx="533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Where a tool is located is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never typed manually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—it is mathematically derived from an unbroken chain of field custody records.</a:t>
            </a:r>
            <a:endParaRPr/>
          </a:p>
        </p:txBody>
      </p:sp>
      <p:pic>
        <p:nvPicPr>
          <p:cNvPr descr="image.png" id="269" name="Google Shape;26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169640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/>
          <p:nvPr/>
        </p:nvSpPr>
        <p:spPr>
          <a:xfrm>
            <a:off x="914400" y="211261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Ownership vs. Custody: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Ownership (who paid) and custody (who currently holds it) are tracked separately.</a:t>
            </a:r>
            <a:endParaRPr/>
          </a:p>
        </p:txBody>
      </p:sp>
      <p:sp>
        <p:nvSpPr>
          <p:cNvPr id="271" name="Google Shape;271;p27"/>
          <p:cNvSpPr txBox="1"/>
          <p:nvPr/>
        </p:nvSpPr>
        <p:spPr>
          <a:xfrm>
            <a:off x="914400" y="274126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Held Assets: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Currently in active possession of a specific foreman, superintendent, or shop.</a:t>
            </a:r>
            <a:endParaRPr/>
          </a:p>
        </p:txBody>
      </p:sp>
      <p:sp>
        <p:nvSpPr>
          <p:cNvPr id="272" name="Google Shape;272;p27"/>
          <p:cNvSpPr txBox="1"/>
          <p:nvPr/>
        </p:nvSpPr>
        <p:spPr>
          <a:xfrm>
            <a:off x="914400" y="336991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 transit: on its way between jobs or back to the yard, held as a status on the tool.</a:t>
            </a:r>
            <a:endParaRPr/>
          </a:p>
        </p:txBody>
      </p:sp>
      <p:sp>
        <p:nvSpPr>
          <p:cNvPr id="273" name="Google Shape;273;p27"/>
          <p:cNvSpPr txBox="1"/>
          <p:nvPr/>
        </p:nvSpPr>
        <p:spPr>
          <a:xfrm>
            <a:off x="914400" y="399856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Awaiting approval: a high-value move parked for a second administrator's sign-off.</a:t>
            </a:r>
            <a:endParaRPr/>
          </a:p>
        </p:txBody>
      </p:sp>
      <p:pic>
        <p:nvPicPr>
          <p:cNvPr descr="image.png" id="274" name="Google Shape;27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2690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75555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38420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012852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CUSTODY CHAIN ARCHITECTURE</a:t>
            </a:r>
            <a:endParaRPr/>
          </a:p>
        </p:txBody>
      </p:sp>
      <p:sp>
        <p:nvSpPr>
          <p:cNvPr id="279" name="Google Shape;279;p27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900" y="0"/>
            <a:ext cx="11687977" cy="629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9" title="Screenshot 2026-09-11 1654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0" cy="5442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4" name="Google Shape;29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31890"/>
            <a:ext cx="110490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0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 txBox="1"/>
          <p:nvPr/>
        </p:nvSpPr>
        <p:spPr>
          <a:xfrm>
            <a:off x="571500" y="1160115"/>
            <a:ext cx="837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Every Movement Is Recorded by the Desk — Nothing Moves Without a Ledger Entry</a:t>
            </a:r>
            <a:endParaRPr/>
          </a:p>
        </p:txBody>
      </p:sp>
      <p:sp>
        <p:nvSpPr>
          <p:cNvPr id="298" name="Google Shape;298;p30"/>
          <p:cNvSpPr/>
          <p:nvPr/>
        </p:nvSpPr>
        <p:spPr>
          <a:xfrm>
            <a:off x="952500" y="2717452"/>
            <a:ext cx="10287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0"/>
          <p:cNvSpPr txBox="1"/>
          <p:nvPr/>
        </p:nvSpPr>
        <p:spPr>
          <a:xfrm>
            <a:off x="781050" y="4112865"/>
            <a:ext cx="1065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2400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Control: only the equipment desk moves tools — a foreman reports, never reassigns. High-value moves park for a second administrator's approval.</a:t>
            </a:r>
            <a:endParaRPr/>
          </a:p>
        </p:txBody>
      </p:sp>
      <p:pic>
        <p:nvPicPr>
          <p:cNvPr descr="image.png" id="300" name="Google Shape;30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19250" y="192211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0"/>
          <p:cNvSpPr txBox="1"/>
          <p:nvPr/>
        </p:nvSpPr>
        <p:spPr>
          <a:xfrm>
            <a:off x="602456" y="2731740"/>
            <a:ext cx="270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1. Tag &amp; Register</a:t>
            </a:r>
            <a:endParaRPr/>
          </a:p>
        </p:txBody>
      </p:sp>
      <p:sp>
        <p:nvSpPr>
          <p:cNvPr id="302" name="Google Shape;302;p30"/>
          <p:cNvSpPr txBox="1"/>
          <p:nvPr/>
        </p:nvSpPr>
        <p:spPr>
          <a:xfrm>
            <a:off x="666750" y="3036540"/>
            <a:ext cx="2571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New tool enters the register; a tool ID is created.</a:t>
            </a:r>
            <a:endParaRPr/>
          </a:p>
        </p:txBody>
      </p:sp>
      <p:pic>
        <p:nvPicPr>
          <p:cNvPr descr="image.png" id="303" name="Google Shape;303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1500" y="192211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0"/>
          <p:cNvSpPr txBox="1"/>
          <p:nvPr/>
        </p:nvSpPr>
        <p:spPr>
          <a:xfrm>
            <a:off x="3364706" y="2731740"/>
            <a:ext cx="270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2. Assign to a Custodian</a:t>
            </a:r>
            <a:endParaRPr/>
          </a:p>
        </p:txBody>
      </p:sp>
      <p:sp>
        <p:nvSpPr>
          <p:cNvPr id="305" name="Google Shape;305;p30"/>
          <p:cNvSpPr txBox="1"/>
          <p:nvPr/>
        </p:nvSpPr>
        <p:spPr>
          <a:xfrm>
            <a:off x="3429000" y="3036540"/>
            <a:ext cx="2571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Issued by the equipment desk and charged to a project.</a:t>
            </a:r>
            <a:endParaRPr/>
          </a:p>
        </p:txBody>
      </p:sp>
      <p:pic>
        <p:nvPicPr>
          <p:cNvPr descr="image.png" id="306" name="Google Shape;306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3750" y="192211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/>
        </p:nvSpPr>
        <p:spPr>
          <a:xfrm>
            <a:off x="6126956" y="2731740"/>
            <a:ext cx="2700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3. Reassign</a:t>
            </a:r>
            <a:endParaRPr b="1" sz="15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p30"/>
          <p:cNvSpPr txBox="1"/>
          <p:nvPr/>
        </p:nvSpPr>
        <p:spPr>
          <a:xfrm>
            <a:off x="6191250" y="3036540"/>
            <a:ext cx="2571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desk moves custody; a high-value tool needs a second approver.</a:t>
            </a:r>
            <a:endParaRPr/>
          </a:p>
        </p:txBody>
      </p:sp>
      <p:pic>
        <p:nvPicPr>
          <p:cNvPr descr="image.png" id="309" name="Google Shape;309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06000" y="192211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0"/>
          <p:cNvSpPr txBox="1"/>
          <p:nvPr/>
        </p:nvSpPr>
        <p:spPr>
          <a:xfrm>
            <a:off x="8889206" y="2731740"/>
            <a:ext cx="270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4. Yard Return</a:t>
            </a:r>
            <a:endParaRPr/>
          </a:p>
        </p:txBody>
      </p:sp>
      <p:sp>
        <p:nvSpPr>
          <p:cNvPr id="311" name="Google Shape;311;p30"/>
          <p:cNvSpPr txBox="1"/>
          <p:nvPr/>
        </p:nvSpPr>
        <p:spPr>
          <a:xfrm>
            <a:off x="8953500" y="3036540"/>
            <a:ext cx="2571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Cleared back to the desk, or reassigned straight to another job.</a:t>
            </a:r>
            <a:endParaRPr/>
          </a:p>
        </p:txBody>
      </p:sp>
      <p:pic>
        <p:nvPicPr>
          <p:cNvPr descr="image.png" id="312" name="Google Shape;312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1050" y="415096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843087" y="2131665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57712" y="2131665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353300" y="213166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3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082212" y="2131665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0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4-STAGE CUSTODY LIFECYCLE</a:t>
            </a:r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12865"/>
            <a:ext cx="1104900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31615"/>
            <a:ext cx="5334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731615"/>
            <a:ext cx="5334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1"/>
          <p:cNvSpPr txBox="1"/>
          <p:nvPr/>
        </p:nvSpPr>
        <p:spPr>
          <a:xfrm>
            <a:off x="571500" y="1160115"/>
            <a:ext cx="6667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Complete Activity History Recorded for Compliance and Loss Verification</a:t>
            </a:r>
            <a:endParaRPr/>
          </a:p>
        </p:txBody>
      </p:sp>
      <p:sp>
        <p:nvSpPr>
          <p:cNvPr id="329" name="Google Shape;329;p31"/>
          <p:cNvSpPr txBox="1"/>
          <p:nvPr/>
        </p:nvSpPr>
        <p:spPr>
          <a:xfrm>
            <a:off x="771525" y="4312890"/>
            <a:ext cx="1064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Audit Trail Sample Record:</a:t>
            </a:r>
            <a:endParaRPr/>
          </a:p>
        </p:txBody>
      </p:sp>
      <p:sp>
        <p:nvSpPr>
          <p:cNvPr id="330" name="Google Shape;330;p31"/>
          <p:cNvSpPr txBox="1"/>
          <p:nvPr/>
        </p:nvSpPr>
        <p:spPr>
          <a:xfrm>
            <a:off x="771525" y="4617690"/>
            <a:ext cx="1064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[2026-09-11 14:22:05] transfer | Asset: UIC-1008 | From: Equipment Yard | To: Foreman J. Miller | Job: 22017 NEX | Actor: Equipment Desk</a:t>
            </a:r>
            <a:endParaRPr/>
          </a:p>
        </p:txBody>
      </p:sp>
      <p:sp>
        <p:nvSpPr>
          <p:cNvPr id="331" name="Google Shape;331;p31"/>
          <p:cNvSpPr txBox="1"/>
          <p:nvPr/>
        </p:nvSpPr>
        <p:spPr>
          <a:xfrm>
            <a:off x="876300" y="2493615"/>
            <a:ext cx="49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Timestamped Field Events</a:t>
            </a:r>
            <a:endParaRPr/>
          </a:p>
        </p:txBody>
      </p:sp>
      <p:sp>
        <p:nvSpPr>
          <p:cNvPr id="332" name="Google Shape;332;p31"/>
          <p:cNvSpPr txBox="1"/>
          <p:nvPr/>
        </p:nvSpPr>
        <p:spPr>
          <a:xfrm>
            <a:off x="876300" y="2798415"/>
            <a:ext cx="475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Exact date, minute, and location automatically captured for every custody status update. Correcting a mistake logs a correction event rather than deleting history.</a:t>
            </a:r>
            <a:endParaRPr/>
          </a:p>
        </p:txBody>
      </p:sp>
      <p:sp>
        <p:nvSpPr>
          <p:cNvPr id="333" name="Google Shape;333;p31"/>
          <p:cNvSpPr txBox="1"/>
          <p:nvPr/>
        </p:nvSpPr>
        <p:spPr>
          <a:xfrm>
            <a:off x="6591300" y="2493615"/>
            <a:ext cx="49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Full Context &amp; Compliance</a:t>
            </a:r>
            <a:endParaRPr/>
          </a:p>
        </p:txBody>
      </p:sp>
      <p:sp>
        <p:nvSpPr>
          <p:cNvPr id="334" name="Google Shape;334;p31"/>
          <p:cNvSpPr txBox="1"/>
          <p:nvPr/>
        </p:nvSpPr>
        <p:spPr>
          <a:xfrm>
            <a:off x="6591300" y="2798415"/>
            <a:ext cx="475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Explicitly reveals previous holder, new holder, job site ID, and timestamp. Built specifically to support internal audits and insurance loss verifications.</a:t>
            </a:r>
            <a:endParaRPr/>
          </a:p>
        </p:txBody>
      </p:sp>
      <p:pic>
        <p:nvPicPr>
          <p:cNvPr descr="image.png" id="335" name="Google Shape;335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03641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91300" y="2036415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1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IMMUTABLE CUSTODY AUDIT LOG</a:t>
            </a:r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3" name="Google Shape;34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50865"/>
            <a:ext cx="5334000" cy="1081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350865"/>
            <a:ext cx="5334000" cy="1081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160115"/>
            <a:ext cx="11049000" cy="522163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2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2"/>
          <p:cNvSpPr txBox="1"/>
          <p:nvPr/>
        </p:nvSpPr>
        <p:spPr>
          <a:xfrm>
            <a:off x="771525" y="3550890"/>
            <a:ext cx="518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Crew Attribution</a:t>
            </a:r>
            <a:endParaRPr/>
          </a:p>
        </p:txBody>
      </p:sp>
      <p:sp>
        <p:nvSpPr>
          <p:cNvPr id="349" name="Google Shape;349;p32"/>
          <p:cNvSpPr txBox="1"/>
          <p:nvPr/>
        </p:nvSpPr>
        <p:spPr>
          <a:xfrm>
            <a:off x="771525" y="3832770"/>
            <a:ext cx="49341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Maps tools directly to specific foremen and their immediate crew for total site accountability.</a:t>
            </a:r>
            <a:endParaRPr/>
          </a:p>
        </p:txBody>
      </p:sp>
      <p:sp>
        <p:nvSpPr>
          <p:cNvPr id="350" name="Google Shape;350;p32"/>
          <p:cNvSpPr txBox="1"/>
          <p:nvPr/>
        </p:nvSpPr>
        <p:spPr>
          <a:xfrm>
            <a:off x="6486525" y="3550890"/>
            <a:ext cx="518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Hierarchy Drill-Down</a:t>
            </a:r>
            <a:endParaRPr/>
          </a:p>
        </p:txBody>
      </p:sp>
      <p:sp>
        <p:nvSpPr>
          <p:cNvPr id="351" name="Google Shape;351;p32"/>
          <p:cNvSpPr txBox="1"/>
          <p:nvPr/>
        </p:nvSpPr>
        <p:spPr>
          <a:xfrm>
            <a:off x="6486525" y="3832770"/>
            <a:ext cx="49341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Leadership can drill down from Project Manager level to individual tool serial numbers instantly.</a:t>
            </a:r>
            <a:endParaRPr/>
          </a:p>
        </p:txBody>
      </p:sp>
      <p:pic>
        <p:nvPicPr>
          <p:cNvPr descr="image.png" id="352" name="Google Shape;352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569940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3569940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2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TOOLS BY JOBSITE &amp; CREW BREAKDOWN</a:t>
            </a:r>
            <a:endParaRPr/>
          </a:p>
        </p:txBody>
      </p:sp>
      <p:sp>
        <p:nvSpPr>
          <p:cNvPr id="355" name="Google Shape;355;p32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3" title="Screenshot 2026-09-11 1818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9" cy="5452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5" name="Google Shape;36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09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03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297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4"/>
          <p:cNvSpPr txBox="1"/>
          <p:nvPr/>
        </p:nvSpPr>
        <p:spPr>
          <a:xfrm>
            <a:off x="571500" y="1160115"/>
            <a:ext cx="713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13 Built-In Reports and Logs for Operational &amp; Financial Fleet Intelligence</a:t>
            </a:r>
            <a:endParaRPr/>
          </a:p>
        </p:txBody>
      </p:sp>
      <p:pic>
        <p:nvPicPr>
          <p:cNvPr descr="image.png" id="372" name="Google Shape;372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4"/>
          <p:cNvSpPr txBox="1"/>
          <p:nvPr/>
        </p:nvSpPr>
        <p:spPr>
          <a:xfrm>
            <a:off x="8096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Asset Register</a:t>
            </a:r>
            <a:endParaRPr/>
          </a:p>
        </p:txBody>
      </p:sp>
      <p:sp>
        <p:nvSpPr>
          <p:cNvPr id="374" name="Google Shape;374;p34"/>
          <p:cNvSpPr txBox="1"/>
          <p:nvPr/>
        </p:nvSpPr>
        <p:spPr>
          <a:xfrm>
            <a:off x="8096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Every tool the company owns, with who holds it, where it is, and which project paid for it.</a:t>
            </a:r>
            <a:endParaRPr/>
          </a:p>
        </p:txBody>
      </p:sp>
      <p:pic>
        <p:nvPicPr>
          <p:cNvPr descr="image.png" id="375" name="Google Shape;375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290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4"/>
          <p:cNvSpPr txBox="1"/>
          <p:nvPr/>
        </p:nvSpPr>
        <p:spPr>
          <a:xfrm>
            <a:off x="36290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Assets by Project</a:t>
            </a:r>
            <a:endParaRPr/>
          </a:p>
        </p:txBody>
      </p:sp>
      <p:sp>
        <p:nvSpPr>
          <p:cNvPr id="377" name="Google Shape;377;p34"/>
          <p:cNvSpPr txBox="1"/>
          <p:nvPr/>
        </p:nvSpPr>
        <p:spPr>
          <a:xfrm>
            <a:off x="36290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What each job is holding right now — operational custody, not who was billed.</a:t>
            </a:r>
            <a:endParaRPr/>
          </a:p>
        </p:txBody>
      </p:sp>
      <p:pic>
        <p:nvPicPr>
          <p:cNvPr descr="image.png" id="378" name="Google Shape;378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484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4"/>
          <p:cNvSpPr txBox="1"/>
          <p:nvPr/>
        </p:nvSpPr>
        <p:spPr>
          <a:xfrm>
            <a:off x="64484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Idle Assets</a:t>
            </a:r>
            <a:endParaRPr/>
          </a:p>
        </p:txBody>
      </p:sp>
      <p:sp>
        <p:nvSpPr>
          <p:cNvPr id="380" name="Google Shape;380;p34"/>
          <p:cNvSpPr txBox="1"/>
          <p:nvPr/>
        </p:nvSpPr>
        <p:spPr>
          <a:xfrm>
            <a:off x="64484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Available and sitting. Check this before approving a purchase for something already owned.</a:t>
            </a:r>
            <a:endParaRPr/>
          </a:p>
        </p:txBody>
      </p:sp>
      <p:pic>
        <p:nvPicPr>
          <p:cNvPr descr="image.png" id="381" name="Google Shape;381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678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 txBox="1"/>
          <p:nvPr/>
        </p:nvSpPr>
        <p:spPr>
          <a:xfrm>
            <a:off x="92678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Capital by Project</a:t>
            </a:r>
            <a:endParaRPr/>
          </a:p>
        </p:txBody>
      </p:sp>
      <p:sp>
        <p:nvSpPr>
          <p:cNvPr id="383" name="Google Shape;383;p34"/>
          <p:cNvSpPr txBox="1"/>
          <p:nvPr/>
        </p:nvSpPr>
        <p:spPr>
          <a:xfrm>
            <a:off x="92678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Financial ownership — what each project actually paid for, wherever the tool sits today.</a:t>
            </a:r>
            <a:endParaRPr/>
          </a:p>
        </p:txBody>
      </p:sp>
      <p:pic>
        <p:nvPicPr>
          <p:cNvPr descr="image.png" id="384" name="Google Shape;384;p3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4875" y="211261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3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24275" y="211261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3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62725" y="211261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82125" y="211261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4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REPORTS, ANALYTICS &amp; LOGS</a:t>
            </a:r>
            <a:endParaRPr/>
          </a:p>
        </p:txBody>
      </p:sp>
      <p:sp>
        <p:nvSpPr>
          <p:cNvPr id="389" name="Google Shape;389;p34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35" title="Screenshot 2026-09-11 1825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0" cy="5425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9" name="Google Shape;39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6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6"/>
          <p:cNvSpPr txBox="1"/>
          <p:nvPr/>
        </p:nvSpPr>
        <p:spPr>
          <a:xfrm>
            <a:off x="571500" y="1160115"/>
            <a:ext cx="687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One access model, three axes — and only one of them needs to appear on screen.</a:t>
            </a:r>
            <a:endParaRPr/>
          </a:p>
        </p:txBody>
      </p:sp>
      <p:sp>
        <p:nvSpPr>
          <p:cNvPr id="402" name="Google Shape;402;p36"/>
          <p:cNvSpPr txBox="1"/>
          <p:nvPr/>
        </p:nvSpPr>
        <p:spPr>
          <a:xfrm>
            <a:off x="914400" y="173161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Equipment Desk: owns yard inventory. Issues and receives tools, approves high-value moves, clears departing workers.</a:t>
            </a:r>
            <a:endParaRPr/>
          </a:p>
        </p:txBody>
      </p:sp>
      <p:sp>
        <p:nvSpPr>
          <p:cNvPr id="403" name="Google Shape;403;p36"/>
          <p:cNvSpPr txBox="1"/>
          <p:nvPr/>
        </p:nvSpPr>
        <p:spPr>
          <a:xfrm>
            <a:off x="914400" y="236026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Project Manager: sees the tools on their own jobs and staffs the job's crew. Does not move custody.</a:t>
            </a:r>
            <a:endParaRPr/>
          </a:p>
        </p:txBody>
      </p:sp>
      <p:sp>
        <p:nvSpPr>
          <p:cNvPr id="404" name="Google Shape;404;p36"/>
          <p:cNvSpPr txBox="1"/>
          <p:nvPr/>
        </p:nvSpPr>
        <p:spPr>
          <a:xfrm>
            <a:off x="914400" y="298891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Superintendent: runs several crews; approves assignments and transfers inside their crew scope.</a:t>
            </a:r>
            <a:endParaRPr/>
          </a:p>
        </p:txBody>
      </p:sp>
      <p:sp>
        <p:nvSpPr>
          <p:cNvPr id="405" name="Google Shape;405;p36"/>
          <p:cNvSpPr txBox="1"/>
          <p:nvPr/>
        </p:nvSpPr>
        <p:spPr>
          <a:xfrm>
            <a:off x="6629400" y="173161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Field Foreman: a phone-first surface — what he holds, and one sentence to the desk to report or request.</a:t>
            </a:r>
            <a:endParaRPr/>
          </a:p>
        </p:txBody>
      </p:sp>
      <p:sp>
        <p:nvSpPr>
          <p:cNvPr id="406" name="Google Shape;406;p36"/>
          <p:cNvSpPr txBox="1"/>
          <p:nvPr/>
        </p:nvSpPr>
        <p:spPr>
          <a:xfrm>
            <a:off x="6629400" y="236026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Mechanic &amp; Shop: holds shop tools charged to the Repair &amp; Maintenance department.</a:t>
            </a:r>
            <a:endParaRPr/>
          </a:p>
        </p:txBody>
      </p:sp>
      <p:pic>
        <p:nvPicPr>
          <p:cNvPr descr="image.png" id="407" name="Google Shape;40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4590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7455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0320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174590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237455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6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ROLE-BASED ACCESS CONTROL</a:t>
            </a:r>
            <a:endParaRPr/>
          </a:p>
        </p:txBody>
      </p:sp>
      <p:sp>
        <p:nvSpPr>
          <p:cNvPr id="413" name="Google Shape;413;p36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8" name="Google Shape;41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60115"/>
            <a:ext cx="261937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1160115"/>
            <a:ext cx="261937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1160115"/>
            <a:ext cx="261937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1125" y="1160115"/>
            <a:ext cx="261937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3" name="Google Shape;423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617440"/>
            <a:ext cx="5334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2617440"/>
            <a:ext cx="5334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7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7"/>
          <p:cNvSpPr txBox="1"/>
          <p:nvPr/>
        </p:nvSpPr>
        <p:spPr>
          <a:xfrm>
            <a:off x="809625" y="1426815"/>
            <a:ext cx="214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0B9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100%</a:t>
            </a:r>
            <a:endParaRPr/>
          </a:p>
        </p:txBody>
      </p:sp>
      <p:sp>
        <p:nvSpPr>
          <p:cNvPr id="427" name="Google Shape;427;p37"/>
          <p:cNvSpPr txBox="1"/>
          <p:nvPr/>
        </p:nvSpPr>
        <p:spPr>
          <a:xfrm>
            <a:off x="809625" y="1960215"/>
            <a:ext cx="2143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Digital Trail History</a:t>
            </a:r>
            <a:endParaRPr/>
          </a:p>
        </p:txBody>
      </p:sp>
      <p:sp>
        <p:nvSpPr>
          <p:cNvPr id="428" name="Google Shape;428;p37"/>
          <p:cNvSpPr txBox="1"/>
          <p:nvPr/>
        </p:nvSpPr>
        <p:spPr>
          <a:xfrm>
            <a:off x="3619500" y="1426815"/>
            <a:ext cx="214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0B98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$0</a:t>
            </a:r>
            <a:endParaRPr/>
          </a:p>
        </p:txBody>
      </p:sp>
      <p:sp>
        <p:nvSpPr>
          <p:cNvPr id="429" name="Google Shape;429;p37"/>
          <p:cNvSpPr txBox="1"/>
          <p:nvPr/>
        </p:nvSpPr>
        <p:spPr>
          <a:xfrm>
            <a:off x="3619500" y="1960215"/>
            <a:ext cx="2143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Duplicate Capex Spend</a:t>
            </a:r>
            <a:endParaRPr/>
          </a:p>
        </p:txBody>
      </p:sp>
      <p:sp>
        <p:nvSpPr>
          <p:cNvPr id="430" name="Google Shape;430;p37"/>
          <p:cNvSpPr txBox="1"/>
          <p:nvPr/>
        </p:nvSpPr>
        <p:spPr>
          <a:xfrm>
            <a:off x="6429375" y="1426815"/>
            <a:ext cx="214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9E0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1-Tap</a:t>
            </a:r>
            <a:endParaRPr/>
          </a:p>
        </p:txBody>
      </p:sp>
      <p:sp>
        <p:nvSpPr>
          <p:cNvPr id="431" name="Google Shape;431;p37"/>
          <p:cNvSpPr txBox="1"/>
          <p:nvPr/>
        </p:nvSpPr>
        <p:spPr>
          <a:xfrm>
            <a:off x="6429375" y="1960215"/>
            <a:ext cx="2143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Offboard Reassignment</a:t>
            </a:r>
            <a:endParaRPr/>
          </a:p>
        </p:txBody>
      </p:sp>
      <p:sp>
        <p:nvSpPr>
          <p:cNvPr id="432" name="Google Shape;432;p37"/>
          <p:cNvSpPr txBox="1"/>
          <p:nvPr/>
        </p:nvSpPr>
        <p:spPr>
          <a:xfrm>
            <a:off x="9239250" y="1426815"/>
            <a:ext cx="214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Live</a:t>
            </a:r>
            <a:endParaRPr/>
          </a:p>
        </p:txBody>
      </p:sp>
      <p:sp>
        <p:nvSpPr>
          <p:cNvPr id="433" name="Google Shape;433;p37"/>
          <p:cNvSpPr txBox="1"/>
          <p:nvPr/>
        </p:nvSpPr>
        <p:spPr>
          <a:xfrm>
            <a:off x="9239250" y="1960215"/>
            <a:ext cx="2143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Executive Oversight</a:t>
            </a:r>
            <a:endParaRPr/>
          </a:p>
        </p:txBody>
      </p:sp>
      <p:sp>
        <p:nvSpPr>
          <p:cNvPr id="434" name="Google Shape;434;p37"/>
          <p:cNvSpPr txBox="1"/>
          <p:nvPr/>
        </p:nvSpPr>
        <p:spPr>
          <a:xfrm>
            <a:off x="876300" y="2893665"/>
            <a:ext cx="49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Zero Missing Tool Records</a:t>
            </a:r>
            <a:endParaRPr/>
          </a:p>
        </p:txBody>
      </p:sp>
      <p:sp>
        <p:nvSpPr>
          <p:cNvPr id="435" name="Google Shape;435;p37"/>
          <p:cNvSpPr txBox="1"/>
          <p:nvPr/>
        </p:nvSpPr>
        <p:spPr>
          <a:xfrm>
            <a:off x="876300" y="3198465"/>
            <a:ext cx="475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Unbroken digital history from day one of purchase through field transfers and yard returns. No lost paper trail.</a:t>
            </a:r>
            <a:endParaRPr/>
          </a:p>
        </p:txBody>
      </p:sp>
      <p:sp>
        <p:nvSpPr>
          <p:cNvPr id="436" name="Google Shape;436;p37"/>
          <p:cNvSpPr txBox="1"/>
          <p:nvPr/>
        </p:nvSpPr>
        <p:spPr>
          <a:xfrm>
            <a:off x="6591300" y="2893665"/>
            <a:ext cx="49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Instant Offboarding</a:t>
            </a:r>
            <a:endParaRPr/>
          </a:p>
        </p:txBody>
      </p:sp>
      <p:sp>
        <p:nvSpPr>
          <p:cNvPr id="437" name="Google Shape;437;p37"/>
          <p:cNvSpPr txBox="1"/>
          <p:nvPr/>
        </p:nvSpPr>
        <p:spPr>
          <a:xfrm>
            <a:off x="6591300" y="3198465"/>
            <a:ext cx="475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Reassign all inventory held by an exiting crew member in a single action, preventing tool leakage during turnover.</a:t>
            </a:r>
            <a:endParaRPr/>
          </a:p>
        </p:txBody>
      </p:sp>
      <p:pic>
        <p:nvPicPr>
          <p:cNvPr descr="image.png" id="438" name="Google Shape;438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91300" y="291271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MEASURABLE BUSINESS OUTCOMES</a:t>
            </a:r>
            <a:endParaRPr/>
          </a:p>
        </p:txBody>
      </p:sp>
      <p:sp>
        <p:nvSpPr>
          <p:cNvPr id="440" name="Google Shape;440;p37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5" name="Google Shape;44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6" name="Google Shape;44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0575" y="3432720"/>
            <a:ext cx="299085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7" name="Google Shape;447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" y="6400800"/>
            <a:ext cx="111442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8"/>
          <p:cNvSpPr txBox="1"/>
          <p:nvPr/>
        </p:nvSpPr>
        <p:spPr>
          <a:xfrm>
            <a:off x="4737552" y="1948755"/>
            <a:ext cx="2716745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449" name="Google Shape;449;p38"/>
          <p:cNvSpPr txBox="1"/>
          <p:nvPr/>
        </p:nvSpPr>
        <p:spPr>
          <a:xfrm>
            <a:off x="4938712" y="2708820"/>
            <a:ext cx="2314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Questions &amp; Discussion</a:t>
            </a:r>
            <a:endParaRPr/>
          </a:p>
        </p:txBody>
      </p:sp>
      <p:sp>
        <p:nvSpPr>
          <p:cNvPr id="450" name="Google Shape;450;p38"/>
          <p:cNvSpPr txBox="1"/>
          <p:nvPr/>
        </p:nvSpPr>
        <p:spPr>
          <a:xfrm>
            <a:off x="523875" y="6524625"/>
            <a:ext cx="19907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Bodhi Labs · Optix Small Tools Inventory</a:t>
            </a:r>
            <a:endParaRPr/>
          </a:p>
        </p:txBody>
      </p:sp>
      <p:sp>
        <p:nvSpPr>
          <p:cNvPr id="451" name="Google Shape;451;p38"/>
          <p:cNvSpPr txBox="1"/>
          <p:nvPr/>
        </p:nvSpPr>
        <p:spPr>
          <a:xfrm>
            <a:off x="11420475" y="6524625"/>
            <a:ext cx="2476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Q&amp;A</a:t>
            </a:r>
            <a:endParaRPr/>
          </a:p>
        </p:txBody>
      </p:sp>
      <p:sp>
        <p:nvSpPr>
          <p:cNvPr id="452" name="Google Shape;452;p38"/>
          <p:cNvSpPr txBox="1"/>
          <p:nvPr/>
        </p:nvSpPr>
        <p:spPr>
          <a:xfrm>
            <a:off x="5362575" y="3727995"/>
            <a:ext cx="1466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Bodhi Labs Pvt. Ltd.</a:t>
            </a:r>
            <a:endParaRPr/>
          </a:p>
        </p:txBody>
      </p:sp>
      <p:sp>
        <p:nvSpPr>
          <p:cNvPr id="453" name="Google Shape;453;p38"/>
          <p:cNvSpPr txBox="1"/>
          <p:nvPr/>
        </p:nvSpPr>
        <p:spPr>
          <a:xfrm>
            <a:off x="5224462" y="4099470"/>
            <a:ext cx="1743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urban.bodhitechlabs.com</a:t>
            </a:r>
            <a:endParaRPr/>
          </a:p>
        </p:txBody>
      </p:sp>
      <p:sp>
        <p:nvSpPr>
          <p:cNvPr id="454" name="Google Shape;454;p38"/>
          <p:cNvSpPr txBox="1"/>
          <p:nvPr/>
        </p:nvSpPr>
        <p:spPr>
          <a:xfrm>
            <a:off x="5086350" y="4413795"/>
            <a:ext cx="20193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Sankhamul, Kathmandu, Nepal</a:t>
            </a:r>
            <a:endParaRPr/>
          </a:p>
        </p:txBody>
      </p:sp>
      <p:pic>
        <p:nvPicPr>
          <p:cNvPr descr="image.png" id="455" name="Google Shape;455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4462" y="413757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6" name="Google Shape;456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86350" y="4451895"/>
            <a:ext cx="104775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image.png" id="399" name="Google Shape;39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6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6"/>
          <p:cNvSpPr txBox="1"/>
          <p:nvPr/>
        </p:nvSpPr>
        <p:spPr>
          <a:xfrm>
            <a:off x="571500" y="1160115"/>
            <a:ext cx="687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Three separate axes describe a person. Only one of them belongs on screen.</a:t>
            </a:r>
            <a:endParaRPr/>
          </a:p>
        </p:txBody>
      </p:sp>
      <p:sp>
        <p:nvSpPr>
          <p:cNvPr id="402" name="Google Shape;402;p36"/>
          <p:cNvSpPr txBox="1"/>
          <p:nvPr/>
        </p:nvSpPr>
        <p:spPr>
          <a:xfrm>
            <a:off x="914400" y="173161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HR job title: what payroll calls the post. Decides which login role a synced person arrives with.</a:t>
            </a:r>
            <a:endParaRPr/>
          </a:p>
        </p:txBody>
      </p:sp>
      <p:sp>
        <p:nvSpPr>
          <p:cNvPr id="403" name="Google Shape;403;p36"/>
          <p:cNvSpPr txBox="1"/>
          <p:nvPr/>
        </p:nvSpPr>
        <p:spPr>
          <a:xfrm>
            <a:off x="914400" y="236026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Login role: what an account may see and do, set in Settings → Access Roles.</a:t>
            </a:r>
            <a:endParaRPr/>
          </a:p>
        </p:txBody>
      </p:sp>
      <p:sp>
        <p:nvSpPr>
          <p:cNvPr id="404" name="Google Shape;404;p36"/>
          <p:cNvSpPr txBox="1"/>
          <p:nvPr/>
        </p:nvSpPr>
        <p:spPr>
          <a:xfrm>
            <a:off x="914400" y="298891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Job tier: where somebody sits on ONE project — foreman, superintendent, PM. Per project, never from a title.</a:t>
            </a:r>
            <a:endParaRPr/>
          </a:p>
        </p:txBody>
      </p:sp>
      <p:sp>
        <p:nvSpPr>
          <p:cNvPr id="405" name="Google Shape;405;p36"/>
          <p:cNvSpPr txBox="1"/>
          <p:nvPr/>
        </p:nvSpPr>
        <p:spPr>
          <a:xfrm>
            <a:off x="6629400" y="173161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same person can be a Carpenter, hold no account, and be a Foreman on this job — all three at once.</a:t>
            </a:r>
            <a:endParaRPr/>
          </a:p>
        </p:txBody>
      </p:sp>
      <p:sp>
        <p:nvSpPr>
          <p:cNvPr id="406" name="Google Shape;406;p36"/>
          <p:cNvSpPr txBox="1"/>
          <p:nvPr/>
        </p:nvSpPr>
        <p:spPr>
          <a:xfrm>
            <a:off x="6629400" y="2360265"/>
            <a:ext cx="49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 screen: one word per person — the word they would use for themselves.</a:t>
            </a:r>
            <a:endParaRPr/>
          </a:p>
        </p:txBody>
      </p:sp>
      <p:pic>
        <p:nvPicPr>
          <p:cNvPr descr="image.png" id="407" name="Google Shape;40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4590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455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0320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74590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37455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6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HOW ACCESS ACTUALLY WORKS</a:t>
            </a:r>
            <a:endParaRPr/>
          </a:p>
        </p:txBody>
      </p:sp>
      <p:sp>
        <p:nvSpPr>
          <p:cNvPr id="413" name="Google Shape;413;p36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image.png" id="140" name="Google Shape;14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31615"/>
            <a:ext cx="533400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31615"/>
            <a:ext cx="533400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571500" y="1160115"/>
            <a:ext cx="761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Give each person the surface their job needs — not the full app with two thirds greyed out.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76300" y="2007840"/>
            <a:ext cx="49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Field layout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6591300" y="2007840"/>
            <a:ext cx="49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Desk layout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591300" y="2379315"/>
            <a:ext cx="475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equipment desk runs the operation: Tools by Jobsite, Custody, the registers, People, Crews and Projects.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591300" y="2950815"/>
            <a:ext cx="475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Reports and the audit trail live here — the strongest surface in the product, gated per role.</a:t>
            </a:r>
            <a:endParaRPr/>
          </a:p>
        </p:txBody>
      </p:sp>
      <p:pic>
        <p:nvPicPr>
          <p:cNvPr descr="image.png" id="149" name="Google Shape;14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202689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 txBox="1"/>
          <p:nvPr/>
        </p:nvSpPr>
        <p:spPr>
          <a:xfrm>
            <a:off x="981075" y="2379315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1066800" y="2379315"/>
            <a:ext cx="45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Built for a phone, standing in a yard: My Tools, Hand Off, Alerts, My Crew's Setup.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981075" y="2950815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1066800" y="2950815"/>
            <a:ext cx="45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foreman sees only what he is holding; a superintendent sees his foremen's tools too.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981075" y="3522315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1066800" y="3522315"/>
            <a:ext cx="45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registers, no settings, no navigation to learn — three things the job actually needs.</a:t>
            </a:r>
            <a:endParaRPr/>
          </a:p>
        </p:txBody>
      </p:sp>
      <p:pic>
        <p:nvPicPr>
          <p:cNvPr descr="image.png" id="156" name="Google Shape;15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91300" y="202689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5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TWO LAYOUTS: FIELD AND DESK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image.png" id="365" name="Google Shape;365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09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03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297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4"/>
          <p:cNvSpPr txBox="1"/>
          <p:nvPr/>
        </p:nvSpPr>
        <p:spPr>
          <a:xfrm>
            <a:off x="571500" y="1160115"/>
            <a:ext cx="713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Four roles that hold the widest grants — and where the deliberate limits are.</a:t>
            </a:r>
            <a:endParaRPr/>
          </a:p>
        </p:txBody>
      </p:sp>
      <p:pic>
        <p:nvPicPr>
          <p:cNvPr descr="image.png" id="372" name="Google Shape;372;p3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96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4"/>
          <p:cNvSpPr txBox="1"/>
          <p:nvPr/>
        </p:nvSpPr>
        <p:spPr>
          <a:xfrm>
            <a:off x="8096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Owner / Tech Admin</a:t>
            </a:r>
            <a:endParaRPr/>
          </a:p>
        </p:txBody>
      </p:sp>
      <p:sp>
        <p:nvSpPr>
          <p:cNvPr id="374" name="Google Shape;374;p34"/>
          <p:cNvSpPr txBox="1"/>
          <p:nvPr/>
        </p:nvSpPr>
        <p:spPr>
          <a:xfrm>
            <a:off x="8096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All 35 permissions. Configures the tenant. Owner is Urban's; Tech Admin is Optix's own operator.</a:t>
            </a:r>
            <a:endParaRPr/>
          </a:p>
        </p:txBody>
      </p:sp>
      <p:pic>
        <p:nvPicPr>
          <p:cNvPr descr="image.png" id="375" name="Google Shape;375;p3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290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4"/>
          <p:cNvSpPr txBox="1"/>
          <p:nvPr/>
        </p:nvSpPr>
        <p:spPr>
          <a:xfrm>
            <a:off x="36290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Equipment Admin</a:t>
            </a:r>
            <a:endParaRPr/>
          </a:p>
        </p:txBody>
      </p:sp>
      <p:sp>
        <p:nvSpPr>
          <p:cNvPr id="377" name="Google Shape;377;p34"/>
          <p:cNvSpPr txBox="1"/>
          <p:nvPr/>
        </p:nvSpPr>
        <p:spPr>
          <a:xfrm>
            <a:off x="36290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Full equipment authority: the register, custody, and who holds what.</a:t>
            </a:r>
            <a:endParaRPr/>
          </a:p>
        </p:txBody>
      </p:sp>
      <p:pic>
        <p:nvPicPr>
          <p:cNvPr descr="image.png" id="378" name="Google Shape;378;p3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484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4"/>
          <p:cNvSpPr txBox="1"/>
          <p:nvPr/>
        </p:nvSpPr>
        <p:spPr>
          <a:xfrm>
            <a:off x="64484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Office Admin</a:t>
            </a:r>
            <a:endParaRPr/>
          </a:p>
        </p:txBody>
      </p:sp>
      <p:sp>
        <p:nvSpPr>
          <p:cNvPr id="380" name="Google Shape;380;p34"/>
          <p:cNvSpPr txBox="1"/>
          <p:nvPr/>
        </p:nvSpPr>
        <p:spPr>
          <a:xfrm>
            <a:off x="64484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People, accounts and projects. No custody at all — deliberately.</a:t>
            </a:r>
            <a:endParaRPr/>
          </a:p>
        </p:txBody>
      </p:sp>
      <p:pic>
        <p:nvPicPr>
          <p:cNvPr descr="image.png" id="381" name="Google Shape;381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678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 txBox="1"/>
          <p:nvPr/>
        </p:nvSpPr>
        <p:spPr>
          <a:xfrm>
            <a:off x="92678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Warehouse</a:t>
            </a:r>
            <a:endParaRPr/>
          </a:p>
        </p:txBody>
      </p:sp>
      <p:sp>
        <p:nvSpPr>
          <p:cNvPr id="383" name="Google Shape;383;p34"/>
          <p:cNvSpPr txBox="1"/>
          <p:nvPr/>
        </p:nvSpPr>
        <p:spPr>
          <a:xfrm>
            <a:off x="92678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yard desk: issues, receives and reassigns tools. The role that routinely moves custody.</a:t>
            </a:r>
            <a:endParaRPr/>
          </a:p>
        </p:txBody>
      </p:sp>
      <p:pic>
        <p:nvPicPr>
          <p:cNvPr descr="image.png"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875" y="211261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4275" y="211261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2725" y="211261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2125" y="211261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4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ROLES &amp; SCREENS — FULL AUTHORITY &amp; THE OFFICE</a:t>
            </a:r>
            <a:endParaRPr/>
          </a:p>
        </p:txBody>
      </p:sp>
      <p:sp>
        <p:nvSpPr>
          <p:cNvPr id="389" name="Google Shape;389;p34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image.png" id="365" name="Google Shape;365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09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03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297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4"/>
          <p:cNvSpPr txBox="1"/>
          <p:nvPr/>
        </p:nvSpPr>
        <p:spPr>
          <a:xfrm>
            <a:off x="571500" y="1160115"/>
            <a:ext cx="713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tier ladder: authority is per job, and travels down the chain.</a:t>
            </a:r>
            <a:endParaRPr/>
          </a:p>
        </p:txBody>
      </p:sp>
      <p:pic>
        <p:nvPicPr>
          <p:cNvPr descr="image.png" id="372" name="Google Shape;372;p3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96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4"/>
          <p:cNvSpPr txBox="1"/>
          <p:nvPr/>
        </p:nvSpPr>
        <p:spPr>
          <a:xfrm>
            <a:off x="8096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Director</a:t>
            </a:r>
            <a:endParaRPr/>
          </a:p>
        </p:txBody>
      </p:sp>
      <p:sp>
        <p:nvSpPr>
          <p:cNvPr id="374" name="Google Shape;374;p34"/>
          <p:cNvSpPr txBox="1"/>
          <p:nvPr/>
        </p:nvSpPr>
        <p:spPr>
          <a:xfrm>
            <a:off x="8096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Claims the jobs they run, then staffs them. Places area in-charge and general superintendents.</a:t>
            </a:r>
            <a:endParaRPr/>
          </a:p>
        </p:txBody>
      </p:sp>
      <p:pic>
        <p:nvPicPr>
          <p:cNvPr descr="image.png" id="375" name="Google Shape;375;p3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290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4"/>
          <p:cNvSpPr txBox="1"/>
          <p:nvPr/>
        </p:nvSpPr>
        <p:spPr>
          <a:xfrm>
            <a:off x="36290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Area In-charge</a:t>
            </a:r>
            <a:endParaRPr/>
          </a:p>
        </p:txBody>
      </p:sp>
      <p:sp>
        <p:nvSpPr>
          <p:cNvPr id="377" name="Google Shape;377;p34"/>
          <p:cNvSpPr txBox="1"/>
          <p:nvPr/>
        </p:nvSpPr>
        <p:spPr>
          <a:xfrm>
            <a:off x="36290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Runs an area: places PMs and superintendents on the jobs they claim, and can itself claim.</a:t>
            </a:r>
            <a:endParaRPr/>
          </a:p>
        </p:txBody>
      </p:sp>
      <p:pic>
        <p:nvPicPr>
          <p:cNvPr descr="image.png" id="378" name="Google Shape;378;p3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484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4"/>
          <p:cNvSpPr txBox="1"/>
          <p:nvPr/>
        </p:nvSpPr>
        <p:spPr>
          <a:xfrm>
            <a:off x="64484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General Superintendent</a:t>
            </a:r>
            <a:endParaRPr/>
          </a:p>
        </p:txBody>
      </p:sp>
      <p:sp>
        <p:nvSpPr>
          <p:cNvPr id="380" name="Google Shape;380;p34"/>
          <p:cNvSpPr txBox="1"/>
          <p:nvPr/>
        </p:nvSpPr>
        <p:spPr>
          <a:xfrm>
            <a:off x="64484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Runs an area's superintendents and may hold tools. Staffs PMs and superintendents.</a:t>
            </a:r>
            <a:endParaRPr/>
          </a:p>
        </p:txBody>
      </p:sp>
      <p:pic>
        <p:nvPicPr>
          <p:cNvPr descr="image.png" id="381" name="Google Shape;381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678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 txBox="1"/>
          <p:nvPr/>
        </p:nvSpPr>
        <p:spPr>
          <a:xfrm>
            <a:off x="92678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Project Manager</a:t>
            </a:r>
            <a:endParaRPr/>
          </a:p>
        </p:txBody>
      </p:sp>
      <p:sp>
        <p:nvSpPr>
          <p:cNvPr id="383" name="Google Shape;383;p34"/>
          <p:cNvSpPr txBox="1"/>
          <p:nvPr/>
        </p:nvSpPr>
        <p:spPr>
          <a:xfrm>
            <a:off x="92678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Sees tools on their own jobs; staffs the job's foremen and engineers. No custody.</a:t>
            </a:r>
            <a:endParaRPr/>
          </a:p>
        </p:txBody>
      </p:sp>
      <p:pic>
        <p:nvPicPr>
          <p:cNvPr descr="image.png"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875" y="211261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4275" y="211261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2725" y="211261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2125" y="211261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4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ROLES &amp; SCREENS — LEADERSHIP</a:t>
            </a:r>
            <a:endParaRPr/>
          </a:p>
        </p:txBody>
      </p:sp>
      <p:sp>
        <p:nvSpPr>
          <p:cNvPr id="389" name="Google Shape;389;p34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image.png" id="365" name="Google Shape;365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909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03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29700" y="1731615"/>
            <a:ext cx="2590800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4"/>
          <p:cNvSpPr txBox="1"/>
          <p:nvPr/>
        </p:nvSpPr>
        <p:spPr>
          <a:xfrm>
            <a:off x="571500" y="1160115"/>
            <a:ext cx="713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narrowest grants — and the roles a live rollout depends on.</a:t>
            </a:r>
            <a:endParaRPr/>
          </a:p>
        </p:txBody>
      </p:sp>
      <p:pic>
        <p:nvPicPr>
          <p:cNvPr descr="image.png" id="372" name="Google Shape;372;p3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96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4"/>
          <p:cNvSpPr txBox="1"/>
          <p:nvPr/>
        </p:nvSpPr>
        <p:spPr>
          <a:xfrm>
            <a:off x="8096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Superintendent</a:t>
            </a:r>
            <a:endParaRPr/>
          </a:p>
        </p:txBody>
      </p:sp>
      <p:sp>
        <p:nvSpPr>
          <p:cNvPr id="374" name="Google Shape;374;p34"/>
          <p:cNvSpPr txBox="1"/>
          <p:nvPr/>
        </p:nvSpPr>
        <p:spPr>
          <a:xfrm>
            <a:off x="8096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Field layout. Approves assignments and transfers; sees his foremen's tools as well as his own.</a:t>
            </a:r>
            <a:endParaRPr/>
          </a:p>
        </p:txBody>
      </p:sp>
      <p:pic>
        <p:nvPicPr>
          <p:cNvPr descr="image.png" id="375" name="Google Shape;375;p3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290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4"/>
          <p:cNvSpPr txBox="1"/>
          <p:nvPr/>
        </p:nvSpPr>
        <p:spPr>
          <a:xfrm>
            <a:off x="36290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Foreman</a:t>
            </a:r>
            <a:endParaRPr/>
          </a:p>
        </p:txBody>
      </p:sp>
      <p:sp>
        <p:nvSpPr>
          <p:cNvPr id="377" name="Google Shape;377;p34"/>
          <p:cNvSpPr txBox="1"/>
          <p:nvPr/>
        </p:nvSpPr>
        <p:spPr>
          <a:xfrm>
            <a:off x="36290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Field layout. Sees and reports what he holds. Cannot reassign — that is the equipment desk's job.</a:t>
            </a:r>
            <a:endParaRPr/>
          </a:p>
        </p:txBody>
      </p:sp>
      <p:pic>
        <p:nvPicPr>
          <p:cNvPr descr="image.png" id="378" name="Google Shape;378;p3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484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4"/>
          <p:cNvSpPr txBox="1"/>
          <p:nvPr/>
        </p:nvSpPr>
        <p:spPr>
          <a:xfrm>
            <a:off x="64484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Mechanic</a:t>
            </a:r>
            <a:endParaRPr/>
          </a:p>
        </p:txBody>
      </p:sp>
      <p:sp>
        <p:nvSpPr>
          <p:cNvPr id="380" name="Google Shape;380;p34"/>
          <p:cNvSpPr txBox="1"/>
          <p:nvPr/>
        </p:nvSpPr>
        <p:spPr>
          <a:xfrm>
            <a:off x="64484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Field layout. Holds shop tools charged to Repair &amp; Maintenance. No crew screens.</a:t>
            </a:r>
            <a:endParaRPr/>
          </a:p>
        </p:txBody>
      </p:sp>
      <p:pic>
        <p:nvPicPr>
          <p:cNvPr descr="image.png" id="381" name="Google Shape;381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67825" y="199831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 txBox="1"/>
          <p:nvPr/>
        </p:nvSpPr>
        <p:spPr>
          <a:xfrm>
            <a:off x="9267825" y="2684115"/>
            <a:ext cx="222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HR · Finance · Procurement · Read-only</a:t>
            </a:r>
            <a:endParaRPr/>
          </a:p>
        </p:txBody>
      </p:sp>
      <p:sp>
        <p:nvSpPr>
          <p:cNvPr id="383" name="Google Shape;383;p34"/>
          <p:cNvSpPr txBox="1"/>
          <p:nvPr/>
        </p:nvSpPr>
        <p:spPr>
          <a:xfrm>
            <a:off x="9267825" y="2988915"/>
            <a:ext cx="211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Office roles: people, reports and register reads — none of them move custody.</a:t>
            </a:r>
            <a:endParaRPr/>
          </a:p>
        </p:txBody>
      </p:sp>
      <p:pic>
        <p:nvPicPr>
          <p:cNvPr descr="image.png"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875" y="211261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4275" y="211261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2725" y="211261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2125" y="211261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4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ROLES &amp; SCREENS — FIELD &amp; SPECIALIST</a:t>
            </a:r>
            <a:endParaRPr/>
          </a:p>
        </p:txBody>
      </p:sp>
      <p:sp>
        <p:nvSpPr>
          <p:cNvPr id="389" name="Google Shape;389;p34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image.png" id="294" name="Google Shape;294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31890"/>
            <a:ext cx="110490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0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 txBox="1"/>
          <p:nvPr/>
        </p:nvSpPr>
        <p:spPr>
          <a:xfrm>
            <a:off x="571500" y="1160115"/>
            <a:ext cx="837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Four moves cover almost all of the daily work — and every one writes to the same ledger.</a:t>
            </a:r>
            <a:endParaRPr/>
          </a:p>
        </p:txBody>
      </p:sp>
      <p:sp>
        <p:nvSpPr>
          <p:cNvPr id="298" name="Google Shape;298;p30"/>
          <p:cNvSpPr/>
          <p:nvPr/>
        </p:nvSpPr>
        <p:spPr>
          <a:xfrm>
            <a:off x="952500" y="2717452"/>
            <a:ext cx="10287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0"/>
          <p:cNvSpPr txBox="1"/>
          <p:nvPr/>
        </p:nvSpPr>
        <p:spPr>
          <a:xfrm>
            <a:off x="781050" y="4112865"/>
            <a:ext cx="1065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2400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Take on a job: leadership claims a job first, then staffs it top-down through the tier ladder.</a:t>
            </a:r>
            <a:endParaRPr/>
          </a:p>
        </p:txBody>
      </p:sp>
      <p:pic>
        <p:nvPicPr>
          <p:cNvPr descr="image.png" id="300" name="Google Shape;300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19250" y="192211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0"/>
          <p:cNvSpPr txBox="1"/>
          <p:nvPr/>
        </p:nvSpPr>
        <p:spPr>
          <a:xfrm>
            <a:off x="602456" y="2731740"/>
            <a:ext cx="270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Assign a tool</a:t>
            </a:r>
            <a:endParaRPr/>
          </a:p>
        </p:txBody>
      </p:sp>
      <p:sp>
        <p:nvSpPr>
          <p:cNvPr id="302" name="Google Shape;302;p30"/>
          <p:cNvSpPr txBox="1"/>
          <p:nvPr/>
        </p:nvSpPr>
        <p:spPr>
          <a:xfrm>
            <a:off x="666750" y="3036540"/>
            <a:ext cx="2571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Tools → row menu → Assign. Pick the custodian and a location.</a:t>
            </a:r>
            <a:endParaRPr/>
          </a:p>
        </p:txBody>
      </p:sp>
      <p:pic>
        <p:nvPicPr>
          <p:cNvPr descr="image.png" id="303" name="Google Shape;303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81500" y="192211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0"/>
          <p:cNvSpPr txBox="1"/>
          <p:nvPr/>
        </p:nvSpPr>
        <p:spPr>
          <a:xfrm>
            <a:off x="3364706" y="2731740"/>
            <a:ext cx="270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Hand over a container</a:t>
            </a:r>
            <a:endParaRPr/>
          </a:p>
        </p:txBody>
      </p:sp>
      <p:sp>
        <p:nvSpPr>
          <p:cNvPr id="305" name="Google Shape;305;p30"/>
          <p:cNvSpPr txBox="1"/>
          <p:nvPr/>
        </p:nvSpPr>
        <p:spPr>
          <a:xfrm>
            <a:off x="3429000" y="3036540"/>
            <a:ext cx="2571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Locations → Hand over. Contents move with it by default.</a:t>
            </a:r>
            <a:endParaRPr/>
          </a:p>
        </p:txBody>
      </p:sp>
      <p:pic>
        <p:nvPicPr>
          <p:cNvPr descr="image.png" id="306" name="Google Shape;306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43750" y="192211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/>
        </p:nvSpPr>
        <p:spPr>
          <a:xfrm>
            <a:off x="6126956" y="2731740"/>
            <a:ext cx="2700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Move a person to a job</a:t>
            </a:r>
            <a:endParaRPr b="1" sz="15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p30"/>
          <p:cNvSpPr txBox="1"/>
          <p:nvPr/>
        </p:nvSpPr>
        <p:spPr>
          <a:xfrm>
            <a:off x="6191250" y="3036540"/>
            <a:ext cx="2571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People → Move job. Their tools follow them to the new job.</a:t>
            </a:r>
            <a:endParaRPr/>
          </a:p>
        </p:txBody>
      </p:sp>
      <p:pic>
        <p:nvPicPr>
          <p:cNvPr descr="image.png" id="309" name="Google Shape;309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906000" y="192211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0"/>
          <p:cNvSpPr txBox="1"/>
          <p:nvPr/>
        </p:nvSpPr>
        <p:spPr>
          <a:xfrm>
            <a:off x="8889206" y="2731740"/>
            <a:ext cx="270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Onboard a crew</a:t>
            </a:r>
            <a:endParaRPr/>
          </a:p>
        </p:txBody>
      </p:sp>
      <p:sp>
        <p:nvSpPr>
          <p:cNvPr id="311" name="Google Shape;311;p30"/>
          <p:cNvSpPr txBox="1"/>
          <p:nvPr/>
        </p:nvSpPr>
        <p:spPr>
          <a:xfrm>
            <a:off x="8953500" y="3036540"/>
            <a:ext cx="2571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Crews → claim the job, then place people tier by tier.</a:t>
            </a:r>
            <a:endParaRPr/>
          </a:p>
        </p:txBody>
      </p:sp>
      <p:pic>
        <p:nvPicPr>
          <p:cNvPr descr="image.png" id="312" name="Google Shape;312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1050" y="415096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3087" y="2131665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57712" y="2131665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3300" y="213166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82212" y="2131665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0"/>
          <p:cNvSpPr txBox="1"/>
          <p:nvPr/>
        </p:nvSpPr>
        <p:spPr>
          <a:xfrm>
            <a:off x="571500" y="533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HOW TO DO IT: THE DAILY TASKS</a:t>
            </a:r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571500" y="921990"/>
            <a:ext cx="114300" cy="266700"/>
          </a:xfrm>
          <a:prstGeom prst="roundRect">
            <a:avLst>
              <a:gd fmla="val 1666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