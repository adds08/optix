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Inter SemiBold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Poppins"/>
      <p:regular r:id="rId40"/>
      <p:bold r:id="rId41"/>
      <p:italic r:id="rId42"/>
      <p:boldItalic r:id="rId43"/>
    </p:embeddedFont>
    <p:embeddedFont>
      <p:font typeface="Inter"/>
      <p:regular r:id="rId44"/>
      <p:bold r:id="rId45"/>
      <p:italic r:id="rId46"/>
      <p:boldItalic r:id="rId47"/>
    </p:embeddedFont>
    <p:embeddedFont>
      <p:font typeface="Poppins SemiBold"/>
      <p:regular r:id="rId48"/>
      <p:bold r:id="rId49"/>
      <p:italic r:id="rId50"/>
      <p:boldItalic r:id="rId51"/>
    </p:embeddedFont>
    <p:embeddedFont>
      <p:font typeface="Poppins ExtraBold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44" Type="http://schemas.openxmlformats.org/officeDocument/2006/relationships/font" Target="fonts/Inter-regular.fntdata"/><Relationship Id="rId43" Type="http://schemas.openxmlformats.org/officeDocument/2006/relationships/font" Target="fonts/Poppins-boldItalic.fntdata"/><Relationship Id="rId46" Type="http://schemas.openxmlformats.org/officeDocument/2006/relationships/font" Target="fonts/Inter-italic.fntdata"/><Relationship Id="rId45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SemiBold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InterSemiBold-bold.fntdata"/><Relationship Id="rId32" Type="http://schemas.openxmlformats.org/officeDocument/2006/relationships/font" Target="fonts/InterSemiBold-regular.fntdata"/><Relationship Id="rId35" Type="http://schemas.openxmlformats.org/officeDocument/2006/relationships/font" Target="fonts/InterSemiBold-boldItalic.fntdata"/><Relationship Id="rId34" Type="http://schemas.openxmlformats.org/officeDocument/2006/relationships/font" Target="fonts/InterSemiBold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SemiBold-boldItalic.fntdata"/><Relationship Id="rId50" Type="http://schemas.openxmlformats.org/officeDocument/2006/relationships/font" Target="fonts/PoppinsSemiBold-italic.fntdata"/><Relationship Id="rId53" Type="http://schemas.openxmlformats.org/officeDocument/2006/relationships/font" Target="fonts/PoppinsExtraBold-boldItalic.fntdata"/><Relationship Id="rId52" Type="http://schemas.openxmlformats.org/officeDocument/2006/relationships/font" Target="fonts/Poppins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b9be1caf6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b9be1caf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9be1caf6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b9be1caf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9be1caf6_8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8b9be1caf6_8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44ac408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44ac4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b44ac408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b44ac4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44ac408a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b44ac408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9be1caf6_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8b9be1caf6_8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b9be1caf6_8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b9be1caf6_8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b9be1caf6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8b9be1caf6_8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b9be1caf6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b9be1caf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b9be1caf6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b9be1caf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b9be1caf6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b9be1caf6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b9be1caf6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b9be1caf6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b9be1caf6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b9be1caf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b9be1caf6_1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b9be1caf6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b9be1caf6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8b9be1caf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b9be1caf6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b9be1caf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8b9be1caf6_1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8b9be1caf6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2.png"/><Relationship Id="rId15" Type="http://schemas.openxmlformats.org/officeDocument/2006/relationships/image" Target="../media/image22.png"/><Relationship Id="rId14" Type="http://schemas.openxmlformats.org/officeDocument/2006/relationships/image" Target="../media/image10.png"/><Relationship Id="rId17" Type="http://schemas.openxmlformats.org/officeDocument/2006/relationships/image" Target="../media/image27.png"/><Relationship Id="rId16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18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21.png"/><Relationship Id="rId9" Type="http://schemas.openxmlformats.org/officeDocument/2006/relationships/image" Target="../media/image54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9" Type="http://schemas.openxmlformats.org/officeDocument/2006/relationships/image" Target="../media/image51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Relationship Id="rId7" Type="http://schemas.openxmlformats.org/officeDocument/2006/relationships/image" Target="../media/image36.png"/><Relationship Id="rId8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7.png"/><Relationship Id="rId10" Type="http://schemas.openxmlformats.org/officeDocument/2006/relationships/image" Target="../media/image60.png"/><Relationship Id="rId13" Type="http://schemas.openxmlformats.org/officeDocument/2006/relationships/image" Target="../media/image56.png"/><Relationship Id="rId1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48.png"/><Relationship Id="rId9" Type="http://schemas.openxmlformats.org/officeDocument/2006/relationships/image" Target="../media/image55.png"/><Relationship Id="rId5" Type="http://schemas.openxmlformats.org/officeDocument/2006/relationships/image" Target="../media/image59.png"/><Relationship Id="rId6" Type="http://schemas.openxmlformats.org/officeDocument/2006/relationships/image" Target="../media/image58.png"/><Relationship Id="rId7" Type="http://schemas.openxmlformats.org/officeDocument/2006/relationships/image" Target="../media/image50.png"/><Relationship Id="rId8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69.png"/><Relationship Id="rId5" Type="http://schemas.openxmlformats.org/officeDocument/2006/relationships/image" Target="../media/image62.png"/><Relationship Id="rId6" Type="http://schemas.openxmlformats.org/officeDocument/2006/relationships/image" Target="../media/image64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72.png"/><Relationship Id="rId5" Type="http://schemas.openxmlformats.org/officeDocument/2006/relationships/image" Target="../media/image83.png"/><Relationship Id="rId6" Type="http://schemas.openxmlformats.org/officeDocument/2006/relationships/image" Target="../media/image70.png"/><Relationship Id="rId7" Type="http://schemas.openxmlformats.org/officeDocument/2006/relationships/image" Target="../media/image80.png"/><Relationship Id="rId8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87.png"/><Relationship Id="rId10" Type="http://schemas.openxmlformats.org/officeDocument/2006/relationships/image" Target="../media/image77.png"/><Relationship Id="rId13" Type="http://schemas.openxmlformats.org/officeDocument/2006/relationships/image" Target="../media/image84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73.png"/><Relationship Id="rId9" Type="http://schemas.openxmlformats.org/officeDocument/2006/relationships/image" Target="../media/image81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71.png"/><Relationship Id="rId8" Type="http://schemas.openxmlformats.org/officeDocument/2006/relationships/image" Target="../media/image8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89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96.png"/><Relationship Id="rId8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0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Relationship Id="rId5" Type="http://schemas.openxmlformats.org/officeDocument/2006/relationships/image" Target="../media/image92.png"/><Relationship Id="rId6" Type="http://schemas.openxmlformats.org/officeDocument/2006/relationships/image" Target="../media/image98.png"/><Relationship Id="rId7" Type="http://schemas.openxmlformats.org/officeDocument/2006/relationships/image" Target="../media/image94.png"/><Relationship Id="rId8" Type="http://schemas.openxmlformats.org/officeDocument/2006/relationships/image" Target="../media/image9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00.png"/><Relationship Id="rId5" Type="http://schemas.openxmlformats.org/officeDocument/2006/relationships/image" Target="../media/image97.png"/><Relationship Id="rId6" Type="http://schemas.openxmlformats.org/officeDocument/2006/relationships/image" Target="../media/image93.png"/><Relationship Id="rId7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4708177"/>
            <a:ext cx="111442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23875" y="1583085"/>
            <a:ext cx="1114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Awakening What's Possible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23875" y="1978372"/>
            <a:ext cx="116681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Optix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23875" y="2822227"/>
            <a:ext cx="11144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Small Tools Inventory Management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23875" y="3508027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Built specifically for Urban Infraconstruction LLC to bring total accountability and real-time visibility to field operations.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1187797"/>
            <a:ext cx="1143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23875" y="4955827"/>
            <a:ext cx="1933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PREPARED FOR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23875" y="5165377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Urban Infraconstruction LLC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838450" y="4955827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38450" y="5165377"/>
            <a:ext cx="923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Bodhi Labs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143375" y="4955827"/>
            <a:ext cx="1133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143375" y="5165377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September 2026</a:t>
            </a:r>
            <a:endParaRPr/>
          </a:p>
        </p:txBody>
      </p:sp>
      <p:pic>
        <p:nvPicPr>
          <p:cNvPr id="97" name="Google Shape;97;p13" title="Screenshot 2026-09-11 1630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0720" y="1089825"/>
            <a:ext cx="3593575" cy="17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60115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1160115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1160115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46140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3646140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999" y="3646140"/>
            <a:ext cx="3530649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14268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09625" y="2112615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Purpose &amp; Core Friction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9625" y="2417415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operational purpose and financial drain caused by poor tool tracking in field operations today.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8874" y="14268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4568874" y="2112615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System Architecture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68874" y="2417415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tool, one truth—connected modules delivering live fleet visibility across multiple job sites.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8124" y="14268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8328124" y="2112615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Small Tools Register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28124" y="2417415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database cataloging makes, models, tags, serial numbers, and live active statuses.</a:t>
            </a:r>
            <a:endParaRPr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91284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809625" y="4598640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 Custody Chain Architecture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09625" y="4903440"/>
            <a:ext cx="305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Field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handoffs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transfers, approval queues, and immutable activity audit logs.</a:t>
            </a:r>
            <a:endParaRPr/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8874" y="391284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4568874" y="4598640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5. Tools by Jobsite &amp; Analytics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568874" y="490344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Crew allocations, live job dashboards, project capital distribution, and report logs.</a:t>
            </a:r>
            <a:endParaRPr/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28124" y="391284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8328124" y="4598640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6. Role Access &amp; Outcomes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328124" y="490344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Tailored workflows for superintendents, PMs, foremen, and measurable business value.</a:t>
            </a:r>
            <a:endParaRPr/>
          </a:p>
        </p:txBody>
      </p:sp>
      <p:pic>
        <p:nvPicPr>
          <p:cNvPr descr="image.png" id="128" name="Google Shape;128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3925" y="15411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02224" y="15411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42424" y="15411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85825" y="40271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45074" y="40271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404324" y="402714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EXECUTIVE PRESENTATION AGENDA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31615"/>
            <a:ext cx="53340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31615"/>
            <a:ext cx="53340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1160115"/>
            <a:ext cx="761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Eliminating Field Friction &amp; Financial Waste Across Urban Infraconstruction Projects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76300" y="2007840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Operational Pain Points Today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591300" y="2007840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The Optix Solution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591300" y="2379315"/>
            <a:ext cx="4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Turn tool custody from a memory game into a live, mathematical system that Urban Infraconstruction can trust completely.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591300" y="2950815"/>
            <a:ext cx="47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 asset owned has a single, trustworthy answer to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"Where is it, and who holds it?"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—accessible instantly on field mobile devices without paperwork.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0268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981075" y="23793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066800" y="23793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Capital Waste: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Tools that cannot be located get re-purchased repeatedly, driving up unnecessary capex.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81075" y="29508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066800" y="29508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Idle Downtime: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Crews standing around hunting for equipment burn labor budgets at high site crew rates.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81075" y="35223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66800" y="35223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Offboarding Gaps: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Departing workers leave without systematic checks on held inventory, causing asset loss.</a:t>
            </a:r>
            <a:endParaRPr/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1300" y="20268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PURPOSE &amp; OPERATIONAL CHALLENGES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Purpose &amp; Problem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523875" y="428625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Onboarding</a:t>
            </a:r>
            <a:endParaRPr/>
          </a:p>
        </p:txBody>
      </p:sp>
      <p:pic>
        <p:nvPicPr>
          <p:cNvPr id="167" name="Google Shape;16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3425"/>
            <a:ext cx="7389998" cy="527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330" y="309025"/>
            <a:ext cx="671173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 rotWithShape="1">
          <a:blip r:embed="rId4">
            <a:alphaModFix/>
          </a:blip>
          <a:srcRect b="-10800" l="0" r="0" t="10800"/>
          <a:stretch/>
        </p:blipFill>
        <p:spPr>
          <a:xfrm>
            <a:off x="0" y="394325"/>
            <a:ext cx="5737326" cy="572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8852623" cy="492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75" y="0"/>
            <a:ext cx="1172385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Purpose &amp; Problem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23875" y="428625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Optix is laid out</a:t>
            </a:r>
            <a:endParaRPr/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350" y="973425"/>
            <a:ext cx="10047974" cy="516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Purpose &amp; Problem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340375" y="440100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Optix is laid out</a:t>
            </a:r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1136" y="1367888"/>
            <a:ext cx="6707340" cy="41222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340375" y="1504900"/>
            <a:ext cx="475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See </a:t>
            </a:r>
            <a:r>
              <a:rPr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everything</a:t>
            </a:r>
            <a:r>
              <a:rPr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in a job or all job or group of job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340375" y="2836363"/>
            <a:ext cx="3713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can be assigned to multiple job</a:t>
            </a:r>
            <a:endParaRPr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But jobs can be view individually for all the features, view all the jobs or create your own group of jobs</a:t>
            </a:r>
            <a:endParaRPr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Purpose &amp; Problem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340375" y="440100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Optix is laid out</a:t>
            </a:r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625" y="945025"/>
            <a:ext cx="9236516" cy="530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title="Screenshot 2026-09-11 165819.png"/>
          <p:cNvPicPr preferRelativeResize="0"/>
          <p:nvPr/>
        </p:nvPicPr>
        <p:blipFill rotWithShape="1">
          <a:blip r:embed="rId3">
            <a:alphaModFix/>
          </a:blip>
          <a:srcRect b="0" l="9383" r="9383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533400"/>
            <a:ext cx="555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VISION: ONE TOOL. ONE TRUTH.</a:t>
            </a:r>
            <a:endParaRPr/>
          </a:p>
        </p:txBody>
      </p:sp>
      <p:pic>
        <p:nvPicPr>
          <p:cNvPr descr="image.png" id="225" name="Google Shape;2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5715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1160115"/>
            <a:ext cx="555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Connected Field Intelligence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1464915"/>
            <a:ext cx="5286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Optix connects yard equipment desks, field managers, and site crews through a single unified digital network.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914400" y="2104876"/>
            <a:ext cx="4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Identity: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Every tool carries a unique 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tool ID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linked to its specs and active holder.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914400" y="2733526"/>
            <a:ext cx="4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Live Custody Chain: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hand-offs recorded instantly during site arrivals and transfers.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914400" y="3362176"/>
            <a:ext cx="4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Executive Audit Trails: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Immutable logs providing complete compliance for loss and usage.</a:t>
            </a:r>
            <a:endParaRPr/>
          </a:p>
        </p:txBody>
      </p:sp>
      <p:pic>
        <p:nvPicPr>
          <p:cNvPr descr="image.png" id="232" name="Google Shape;23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191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4781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7646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523875" y="6524625"/>
            <a:ext cx="1990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Tool Register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523875" y="2009775"/>
            <a:ext cx="45405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Centralized Asset Identity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23875" y="2438400"/>
            <a:ext cx="4324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 750+ small tools individually tracked with complete identity specifications.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809625" y="31337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Unique Tag &amp; Ref #: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Custom code indexing for rapid searching in the field.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809625" y="37433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Categorization: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Grouped into Generators, Blowers, Power Tools, Yard gear, and Supplies.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809625" y="43529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Live Assigned Holder: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Instant visibility into who holds each specific tool.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809625" y="49625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Global Search: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Instant filtering by model, serial number, tag, or jobsite.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31575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37671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" y="437673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5" y="49863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523875" y="428625"/>
            <a:ext cx="11668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Small Tools Register</a:t>
            </a:r>
            <a:endParaRPr/>
          </a:p>
        </p:txBody>
      </p:sp>
      <p:pic>
        <p:nvPicPr>
          <p:cNvPr id="254" name="Google Shape;254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1103" y="1069437"/>
            <a:ext cx="7200896" cy="420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6" title="Screenshot 2026-09-11 1655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616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6011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571500" y="1160115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Calculated from Unbroken Hand-Offs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571500" y="1464915"/>
            <a:ext cx="533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Where a tool is located is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never typed manually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—it is mathematically derived from an unbroken chain of field custody records.</a:t>
            </a:r>
            <a:endParaRPr/>
          </a:p>
        </p:txBody>
      </p:sp>
      <p:pic>
        <p:nvPicPr>
          <p:cNvPr descr="image.png" id="269" name="Google Shape;26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16964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914400" y="2112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Ownership vs. Custody: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Ownership (who paid) and custody (who currently holds it) are tracked separately.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914400" y="2741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Held Assets: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Currently in active possession of a specific foreman, superintendent, or shop.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914400" y="33699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Moving Assets: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Marked as "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Moving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 during transfer between job sites until received.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914400" y="39985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Approval Queue: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Awaiting digital sign-off by superintendents or equipment desk.</a:t>
            </a:r>
            <a:endParaRPr/>
          </a:p>
        </p:txBody>
      </p:sp>
      <p:pic>
        <p:nvPicPr>
          <p:cNvPr descr="image.png" id="274" name="Google Shape;27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2690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5555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8420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012852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CUSTODY CHAIN ARCHITECTURE</a:t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00" y="0"/>
            <a:ext cx="11687977" cy="629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 title="Screenshot 2026-09-11 1654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5442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31890"/>
            <a:ext cx="11049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571500" y="1160115"/>
            <a:ext cx="837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Every Physical Tool Movement Requires Clear Confirmation—Zero Phantom Tools in Transit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952500" y="2717452"/>
            <a:ext cx="10287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781050" y="4112865"/>
            <a:ext cx="1065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Security Protocol: If a field transfer is not confirmed by the recipient within 24 hours, automated alerts notify the site superintendent.</a:t>
            </a:r>
            <a:endParaRPr/>
          </a:p>
        </p:txBody>
      </p:sp>
      <p:pic>
        <p:nvPicPr>
          <p:cNvPr descr="image.png" id="300" name="Google Shape;30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925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0"/>
          <p:cNvSpPr txBox="1"/>
          <p:nvPr/>
        </p:nvSpPr>
        <p:spPr>
          <a:xfrm>
            <a:off x="60245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Tag &amp; Register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66675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New tool enters central register; </a:t>
            </a:r>
            <a:r>
              <a:rPr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tool ID is created</a:t>
            </a:r>
            <a:endParaRPr/>
          </a:p>
        </p:txBody>
      </p:sp>
      <p:pic>
        <p:nvPicPr>
          <p:cNvPr descr="image.png" id="303" name="Google Shape;30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336470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Assign to Crew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342900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Issued to foreman &amp; charged to specific project account.</a:t>
            </a:r>
            <a:endParaRPr/>
          </a:p>
        </p:txBody>
      </p:sp>
      <p:pic>
        <p:nvPicPr>
          <p:cNvPr descr="image.png" id="306" name="Google Shape;306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126956" y="2731740"/>
            <a:ext cx="270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Transfer</a:t>
            </a:r>
            <a:endParaRPr b="1" sz="15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619125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Field transfer initiated; requires 1-tap confirmation by receiver.</a:t>
            </a:r>
            <a:endParaRPr/>
          </a:p>
        </p:txBody>
      </p:sp>
      <p:pic>
        <p:nvPicPr>
          <p:cNvPr descr="image.png" id="309" name="Google Shape;30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888920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 Yard Return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895350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Cleared back to equipment desk or reassigned instantly.</a:t>
            </a:r>
            <a:endParaRPr/>
          </a:p>
        </p:txBody>
      </p:sp>
      <p:pic>
        <p:nvPicPr>
          <p:cNvPr descr="image.png" id="312" name="Google Shape;31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415096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43087" y="213166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7712" y="213166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53300" y="213166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82212" y="213166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4-STAGE HAND-OFF LIFECYCLE</a:t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2865"/>
            <a:ext cx="110490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31615"/>
            <a:ext cx="5334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731615"/>
            <a:ext cx="5334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571500" y="1160115"/>
            <a:ext cx="666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Complete Activity History Recorded for Compliance and Loss Verification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771525" y="4312890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Audit Trail Sample Record: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771525" y="4617690"/>
            <a:ext cx="1064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[2026-09-11 14:22:05] ASSIGNMENT_TRANSFER | Asset: TL-PWR-118 | From: Yard (Ref: Desk-1) | To: Foreman J. Miller (Job: NEX-902) | Verified: 1-Tap Mobile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876300" y="249361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Timestamped Field Events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876300" y="2798415"/>
            <a:ext cx="47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Exact date, minute, and location automatically captured for every custody status update. Correcting a mistake logs a correction event rather than deleting history.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6591300" y="249361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Full Context &amp; Compliance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6591300" y="2798415"/>
            <a:ext cx="47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Explicitly reveals previous holder, new holder, job site ID, and timestamp. Built specifically to support internal audits and insurance loss verifications.</a:t>
            </a:r>
            <a:endParaRPr/>
          </a:p>
        </p:txBody>
      </p:sp>
      <p:pic>
        <p:nvPicPr>
          <p:cNvPr descr="image.png" id="335" name="Google Shape;33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0364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91300" y="203641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IMMUTABLE CUSTODY AUDIT LOG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0865"/>
            <a:ext cx="5334000" cy="1081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350865"/>
            <a:ext cx="5334000" cy="1081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60115"/>
            <a:ext cx="11049000" cy="522163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771525" y="3550890"/>
            <a:ext cx="518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Crew Attribution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771525" y="3832770"/>
            <a:ext cx="4934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Maps tools directly to specific foremen and their immediate crew for total site accountability.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6486525" y="3550890"/>
            <a:ext cx="518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Hierarchy Drill-Down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6486525" y="3832770"/>
            <a:ext cx="4934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Leadership can drill down from Project Manager level to individual tool serial numbers instantly.</a:t>
            </a:r>
            <a:endParaRPr/>
          </a:p>
        </p:txBody>
      </p:sp>
      <p:pic>
        <p:nvPicPr>
          <p:cNvPr descr="image.png" id="352" name="Google Shape;35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56994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569940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TOOLS BY JOBSITE &amp; CREW BREAKDOWN</a:t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3" title="Screenshot 2026-09-11 1818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5452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97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571500" y="1160115"/>
            <a:ext cx="713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 Built-In Report Modules Delivering Operational &amp; Financial Fleet Intelligence</a:t>
            </a:r>
            <a:endParaRPr/>
          </a:p>
        </p:txBody>
      </p:sp>
      <p:pic>
        <p:nvPicPr>
          <p:cNvPr descr="image.png" id="372" name="Google Shape;37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/>
        </p:nvSpPr>
        <p:spPr>
          <a:xfrm>
            <a:off x="8096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Asset Register Report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8096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 fleet inventory count with categorizations, age, condition, and maintenance logs.</a:t>
            </a:r>
            <a:endParaRPr/>
          </a:p>
        </p:txBody>
      </p:sp>
      <p:pic>
        <p:nvPicPr>
          <p:cNvPr descr="image.png" id="375" name="Google Shape;375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290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36290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Assets by Project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36290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Live tool deployment counts per job site for allocation re-balancing between projects.</a:t>
            </a:r>
            <a:endParaRPr/>
          </a:p>
        </p:txBody>
      </p:sp>
      <p:pic>
        <p:nvPicPr>
          <p:cNvPr descr="image.png" id="378" name="Google Shape;378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484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64484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Idle Asset Report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64484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Identifies unassigned tools sitting in yards or trailers, preventing duplicate procurement.</a:t>
            </a:r>
            <a:endParaRPr/>
          </a:p>
        </p:txBody>
      </p:sp>
      <p:pic>
        <p:nvPicPr>
          <p:cNvPr descr="image.png" id="381" name="Google Shape;381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678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 txBox="1"/>
          <p:nvPr/>
        </p:nvSpPr>
        <p:spPr>
          <a:xfrm>
            <a:off x="92678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Capital by Project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92678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the total dollar capital valuation of tools tied up across each active project site.</a:t>
            </a:r>
            <a:endParaRPr/>
          </a:p>
        </p:txBody>
      </p:sp>
      <p:pic>
        <p:nvPicPr>
          <p:cNvPr descr="image.png" id="384" name="Google Shape;384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48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242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27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21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REPORTS, ANALYTICS &amp; LOGS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5" title="Screenshot 2026-09-11 1825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5425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571500" y="1160115"/>
            <a:ext cx="687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Tailored Views Ensuring Every User Sees Exactly What Their Role Requires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914400" y="1731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Equipment Desk: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Owns yard inventory. Receives stock, approves hand-offs, and reassigns tools during worker exits.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914400" y="2360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Project Manager: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Sees and manages all tools allocated to their active job sites with financial capital tracking.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914400" y="29889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Superintendent: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Oversees foremen under their supervision; approves inter-job site tool transfers.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6629400" y="1731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Field Foreman: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Fast 1-tap phone app UI to request, receive, and hand off tools for immediate crew members.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6629400" y="2360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Mechanic &amp; Shop: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Holds tools for maintenance and repairs, charging service time to specific project departments.</a:t>
            </a:r>
            <a:endParaRPr/>
          </a:p>
        </p:txBody>
      </p:sp>
      <p:pic>
        <p:nvPicPr>
          <p:cNvPr descr="image.png" id="407" name="Google Shape;40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590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7455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0320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74590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37455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ROLE-BASED ACCESS CONTROL</a:t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617440"/>
            <a:ext cx="5334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2617440"/>
            <a:ext cx="5334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 txBox="1"/>
          <p:nvPr/>
        </p:nvSpPr>
        <p:spPr>
          <a:xfrm>
            <a:off x="809625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100%</a:t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809625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Digital Trail History</a:t>
            </a:r>
            <a:endParaRPr/>
          </a:p>
        </p:txBody>
      </p:sp>
      <p:sp>
        <p:nvSpPr>
          <p:cNvPr id="428" name="Google Shape;428;p37"/>
          <p:cNvSpPr txBox="1"/>
          <p:nvPr/>
        </p:nvSpPr>
        <p:spPr>
          <a:xfrm>
            <a:off x="3619500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$0</a:t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3619500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Duplicate Capex Spend</a:t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6429375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9E0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1-Tap</a:t>
            </a:r>
            <a:endParaRPr/>
          </a:p>
        </p:txBody>
      </p:sp>
      <p:sp>
        <p:nvSpPr>
          <p:cNvPr id="431" name="Google Shape;431;p37"/>
          <p:cNvSpPr txBox="1"/>
          <p:nvPr/>
        </p:nvSpPr>
        <p:spPr>
          <a:xfrm>
            <a:off x="6429375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Offboard Reassignment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9239250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Live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9239250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Executive Oversight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876300" y="289366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Zero Missing Tool Records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876300" y="3198465"/>
            <a:ext cx="4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Unbroken digital history from day one of purchase through field transfers and yard returns. No lost paper trail.</a:t>
            </a:r>
            <a:endParaRPr/>
          </a:p>
        </p:txBody>
      </p:sp>
      <p:sp>
        <p:nvSpPr>
          <p:cNvPr id="436" name="Google Shape;436;p37"/>
          <p:cNvSpPr txBox="1"/>
          <p:nvPr/>
        </p:nvSpPr>
        <p:spPr>
          <a:xfrm>
            <a:off x="6591300" y="289366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Instant Offboarding</a:t>
            </a:r>
            <a:endParaRPr/>
          </a:p>
        </p:txBody>
      </p:sp>
      <p:sp>
        <p:nvSpPr>
          <p:cNvPr id="437" name="Google Shape;437;p37"/>
          <p:cNvSpPr txBox="1"/>
          <p:nvPr/>
        </p:nvSpPr>
        <p:spPr>
          <a:xfrm>
            <a:off x="6591300" y="3198465"/>
            <a:ext cx="4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Reassign all inventory held by an exiting crew member in a single action, preventing tool leakage during turnover.</a:t>
            </a:r>
            <a:endParaRPr/>
          </a:p>
        </p:txBody>
      </p:sp>
      <p:pic>
        <p:nvPicPr>
          <p:cNvPr descr="image.png" id="438" name="Google Shape;438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1300" y="291271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MEASURABLE BUSINESS OUTCOMES</a:t>
            </a:r>
            <a:endParaRPr/>
          </a:p>
        </p:txBody>
      </p:sp>
      <p:sp>
        <p:nvSpPr>
          <p:cNvPr id="440" name="Google Shape;440;p37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75" y="3432720"/>
            <a:ext cx="29908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8"/>
          <p:cNvSpPr txBox="1"/>
          <p:nvPr/>
        </p:nvSpPr>
        <p:spPr>
          <a:xfrm>
            <a:off x="4737552" y="1948755"/>
            <a:ext cx="2716745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449" name="Google Shape;449;p38"/>
          <p:cNvSpPr txBox="1"/>
          <p:nvPr/>
        </p:nvSpPr>
        <p:spPr>
          <a:xfrm>
            <a:off x="4938712" y="2708820"/>
            <a:ext cx="2314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sp>
        <p:nvSpPr>
          <p:cNvPr id="450" name="Google Shape;450;p38"/>
          <p:cNvSpPr txBox="1"/>
          <p:nvPr/>
        </p:nvSpPr>
        <p:spPr>
          <a:xfrm>
            <a:off x="523875" y="6524625"/>
            <a:ext cx="1990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451" name="Google Shape;451;p38"/>
          <p:cNvSpPr txBox="1"/>
          <p:nvPr/>
        </p:nvSpPr>
        <p:spPr>
          <a:xfrm>
            <a:off x="11420475" y="6524625"/>
            <a:ext cx="2476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Q&amp;A</a:t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5362575" y="3727995"/>
            <a:ext cx="1466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Bodhi Labs Pvt. Ltd.</a:t>
            </a:r>
            <a:endParaRPr/>
          </a:p>
        </p:txBody>
      </p:sp>
      <p:sp>
        <p:nvSpPr>
          <p:cNvPr id="453" name="Google Shape;453;p38"/>
          <p:cNvSpPr txBox="1"/>
          <p:nvPr/>
        </p:nvSpPr>
        <p:spPr>
          <a:xfrm>
            <a:off x="5224462" y="4099470"/>
            <a:ext cx="1743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urban.bodhitechlabs.com</a:t>
            </a:r>
            <a:endParaRPr/>
          </a:p>
        </p:txBody>
      </p:sp>
      <p:sp>
        <p:nvSpPr>
          <p:cNvPr id="454" name="Google Shape;454;p38"/>
          <p:cNvSpPr txBox="1"/>
          <p:nvPr/>
        </p:nvSpPr>
        <p:spPr>
          <a:xfrm>
            <a:off x="5086350" y="4413795"/>
            <a:ext cx="2019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Sankhamul, Kathmandu, Nepal</a:t>
            </a:r>
            <a:endParaRPr/>
          </a:p>
        </p:txBody>
      </p:sp>
      <p:pic>
        <p:nvPicPr>
          <p:cNvPr descr="image.png" id="455" name="Google Shape;45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4462" y="413757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6350" y="4451895"/>
            <a:ext cx="1047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